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2" r:id="rId2"/>
    <p:sldId id="284" r:id="rId3"/>
    <p:sldId id="288" r:id="rId4"/>
    <p:sldId id="287" r:id="rId5"/>
    <p:sldId id="291" r:id="rId6"/>
    <p:sldId id="290" r:id="rId7"/>
    <p:sldId id="283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8EE1"/>
    <a:srgbClr val="ACF5E1"/>
    <a:srgbClr val="FFFFFF"/>
    <a:srgbClr val="EDEDED"/>
    <a:srgbClr val="574231"/>
    <a:srgbClr val="87C43B"/>
    <a:srgbClr val="BFD101"/>
    <a:srgbClr val="B2D34E"/>
    <a:srgbClr val="C9C011"/>
    <a:srgbClr val="00C0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8" autoAdjust="0"/>
    <p:restoredTop sz="88856" autoAdjust="0"/>
  </p:normalViewPr>
  <p:slideViewPr>
    <p:cSldViewPr>
      <p:cViewPr varScale="1">
        <p:scale>
          <a:sx n="74" d="100"/>
          <a:sy n="74" d="100"/>
        </p:scale>
        <p:origin x="109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B6CB9-FC61-42C7-AB0E-E239B60C3C51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EA237-A359-4CC0-951A-F3A14D13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0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39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8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58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19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7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71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35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789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780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72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81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78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6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8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0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80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9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2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tiff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6955"/>
            <a:ext cx="9144000" cy="529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261589"/>
            <a:ext cx="4267200" cy="884303"/>
          </a:xfrm>
          <a:prstGeom prst="rect">
            <a:avLst/>
          </a:prstGeom>
          <a:solidFill>
            <a:schemeClr val="bg1"/>
          </a:solidFill>
          <a:ln>
            <a:solidFill>
              <a:srgbClr val="BD8E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9"/>
          <p:cNvSpPr txBox="1"/>
          <p:nvPr/>
        </p:nvSpPr>
        <p:spPr>
          <a:xfrm>
            <a:off x="1283576" y="226686"/>
            <a:ext cx="40292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sz="2800" b="1" dirty="0"/>
              <a:t>Mengenal Rukun Islam (Kalimat Syahadatain)</a:t>
            </a:r>
          </a:p>
        </p:txBody>
      </p:sp>
      <p:sp>
        <p:nvSpPr>
          <p:cNvPr id="8" name="Diamond 7"/>
          <p:cNvSpPr/>
          <p:nvPr/>
        </p:nvSpPr>
        <p:spPr>
          <a:xfrm>
            <a:off x="0" y="60685"/>
            <a:ext cx="1295400" cy="1286107"/>
          </a:xfrm>
          <a:prstGeom prst="diamond">
            <a:avLst/>
          </a:prstGeom>
          <a:solidFill>
            <a:srgbClr val="BD8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6"/>
          <p:cNvSpPr txBox="1"/>
          <p:nvPr/>
        </p:nvSpPr>
        <p:spPr>
          <a:xfrm>
            <a:off x="207433" y="283208"/>
            <a:ext cx="890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BAB</a:t>
            </a:r>
          </a:p>
        </p:txBody>
      </p:sp>
      <p:sp>
        <p:nvSpPr>
          <p:cNvPr id="10" name="TextBox 17"/>
          <p:cNvSpPr txBox="1"/>
          <p:nvPr/>
        </p:nvSpPr>
        <p:spPr>
          <a:xfrm>
            <a:off x="462916" y="62947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56" y="971551"/>
            <a:ext cx="3110252" cy="370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603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8619"/>
            <a:ext cx="2438400" cy="3515634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09600" y="2647950"/>
            <a:ext cx="2502876" cy="11749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2400" b="1" dirty="0">
                <a:latin typeface="+mn-lt"/>
              </a:rPr>
              <a:t>Apa itu Rukun Islam?</a:t>
            </a:r>
            <a:endParaRPr lang="en-US" sz="2400" b="1" dirty="0">
              <a:latin typeface="+mn-l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581400" y="1426142"/>
            <a:ext cx="48006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2000" dirty="0">
                <a:latin typeface="+mn-lt"/>
              </a:rPr>
              <a:t>Rukum Islam adalah dasar dari agama Islam.</a:t>
            </a:r>
          </a:p>
          <a:p>
            <a:pPr algn="ctr"/>
            <a:r>
              <a:rPr lang="id-ID" sz="2000" dirty="0">
                <a:latin typeface="+mn-lt"/>
              </a:rPr>
              <a:t>Rukun Islam ada lima, yaitu:</a:t>
            </a:r>
            <a:endParaRPr lang="en-US" sz="2000" dirty="0">
              <a:latin typeface="+mn-lt"/>
            </a:endParaRPr>
          </a:p>
        </p:txBody>
      </p:sp>
      <p:sp>
        <p:nvSpPr>
          <p:cNvPr id="8" name="Round Diagonal Corner Rectangle 7"/>
          <p:cNvSpPr/>
          <p:nvPr/>
        </p:nvSpPr>
        <p:spPr>
          <a:xfrm>
            <a:off x="3581400" y="2343150"/>
            <a:ext cx="5105400" cy="2133600"/>
          </a:xfrm>
          <a:prstGeom prst="round2DiagRect">
            <a:avLst/>
          </a:prstGeom>
          <a:solidFill>
            <a:srgbClr val="EDEDED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Membaca dua kalimat syahadat (</a:t>
            </a:r>
            <a:r>
              <a:rPr lang="id-ID" i="1" dirty="0">
                <a:solidFill>
                  <a:schemeClr val="tx1"/>
                </a:solidFill>
              </a:rPr>
              <a:t>syahadatain</a:t>
            </a:r>
            <a:r>
              <a:rPr lang="id-ID" dirty="0">
                <a:solidFill>
                  <a:schemeClr val="tx1"/>
                </a:solidFill>
              </a:rPr>
              <a:t>).</a:t>
            </a:r>
          </a:p>
          <a:p>
            <a:pPr marL="342900" indent="-342900"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Mendirikan salat.</a:t>
            </a:r>
          </a:p>
          <a:p>
            <a:pPr marL="342900" indent="-342900"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Menunaikan zakat.</a:t>
            </a:r>
          </a:p>
          <a:p>
            <a:pPr marL="342900" indent="-342900"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Melaksanakan puasa Ramadan.</a:t>
            </a:r>
          </a:p>
          <a:p>
            <a:pPr marL="342900" indent="-342900">
              <a:buAutoNum type="arabicPeriod"/>
            </a:pPr>
            <a:r>
              <a:rPr lang="id-ID" dirty="0">
                <a:solidFill>
                  <a:schemeClr val="tx1"/>
                </a:solidFill>
              </a:rPr>
              <a:t>Melaksanakan haji bagi orang yang mampu.</a:t>
            </a:r>
          </a:p>
        </p:txBody>
      </p:sp>
      <p:pic>
        <p:nvPicPr>
          <p:cNvPr id="10" name="Picture 2" descr="Isolated bundle of book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500991"/>
            <a:ext cx="824832" cy="54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137105"/>
            <a:ext cx="22860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000" b="1" dirty="0"/>
              <a:t>Rukun Islam</a:t>
            </a:r>
            <a:endParaRPr lang="en-US" sz="2000" b="1" dirty="0"/>
          </a:p>
        </p:txBody>
      </p:sp>
      <p:sp>
        <p:nvSpPr>
          <p:cNvPr id="6" name="Minus 5"/>
          <p:cNvSpPr/>
          <p:nvPr/>
        </p:nvSpPr>
        <p:spPr>
          <a:xfrm>
            <a:off x="4191000" y="1959542"/>
            <a:ext cx="3581400" cy="78808"/>
          </a:xfrm>
          <a:prstGeom prst="mathMinus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0382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152400" y="1225553"/>
            <a:ext cx="5029200" cy="1450524"/>
            <a:chOff x="2819400" y="819150"/>
            <a:chExt cx="4495800" cy="3050724"/>
          </a:xfrm>
        </p:grpSpPr>
        <p:pic>
          <p:nvPicPr>
            <p:cNvPr id="2054" name="Picture 6" descr="Flat quote box frames collection Free Vector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49" t="11510" r="32269" b="52038"/>
            <a:stretch/>
          </p:blipFill>
          <p:spPr bwMode="auto">
            <a:xfrm>
              <a:off x="2819400" y="819150"/>
              <a:ext cx="4495800" cy="3050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3657600" y="1657350"/>
              <a:ext cx="2971800" cy="144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/>
          <p:cNvSpPr txBox="1">
            <a:spLocks/>
          </p:cNvSpPr>
          <p:nvPr/>
        </p:nvSpPr>
        <p:spPr>
          <a:xfrm>
            <a:off x="617806" y="1742007"/>
            <a:ext cx="4479388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800" b="1" i="1" dirty="0">
                <a:latin typeface="+mn-lt"/>
              </a:rPr>
              <a:t>Syahadatain</a:t>
            </a:r>
            <a:r>
              <a:rPr lang="id-ID" sz="1800" b="1" dirty="0">
                <a:latin typeface="+mn-lt"/>
              </a:rPr>
              <a:t> artinya dua kalimat syahadat.</a:t>
            </a:r>
          </a:p>
          <a:p>
            <a:r>
              <a:rPr lang="id-ID" sz="1800" b="1" dirty="0">
                <a:latin typeface="+mn-lt"/>
              </a:rPr>
              <a:t>Syahadat artinya kesaksian.</a:t>
            </a:r>
          </a:p>
          <a:p>
            <a:endParaRPr lang="en-US" sz="1800" b="1" dirty="0">
              <a:latin typeface="+mn-lt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4800" y="2954120"/>
            <a:ext cx="5105400" cy="1512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800" dirty="0">
                <a:latin typeface="+mn-lt"/>
              </a:rPr>
              <a:t>Syahadat termasuk rukun Islam yang pertama.</a:t>
            </a:r>
          </a:p>
          <a:p>
            <a:r>
              <a:rPr lang="id-ID" sz="1800" dirty="0">
                <a:latin typeface="+mn-lt"/>
              </a:rPr>
              <a:t>Orang yang masuk Islam harus membaca syahadat.</a:t>
            </a:r>
          </a:p>
          <a:p>
            <a:r>
              <a:rPr lang="id-ID" sz="1800" dirty="0">
                <a:latin typeface="+mn-lt"/>
              </a:rPr>
              <a:t>Syahadat juga dibaca dalam salat.</a:t>
            </a:r>
          </a:p>
          <a:p>
            <a:r>
              <a:rPr lang="id-ID" sz="1800" dirty="0">
                <a:latin typeface="+mn-lt"/>
              </a:rPr>
              <a:t>Syahadat dibagi menjadi dua:</a:t>
            </a:r>
          </a:p>
          <a:p>
            <a:r>
              <a:rPr lang="id-ID" sz="1800" dirty="0">
                <a:latin typeface="+mn-lt"/>
              </a:rPr>
              <a:t>Yaitu </a:t>
            </a:r>
            <a:r>
              <a:rPr lang="id-ID" sz="1800" b="1" dirty="0">
                <a:latin typeface="+mn-lt"/>
              </a:rPr>
              <a:t>syahadat tauhid </a:t>
            </a:r>
            <a:r>
              <a:rPr lang="id-ID" sz="1800" dirty="0">
                <a:latin typeface="+mn-lt"/>
              </a:rPr>
              <a:t>dan </a:t>
            </a:r>
            <a:r>
              <a:rPr lang="id-ID" sz="1800" b="1" dirty="0">
                <a:latin typeface="+mn-lt"/>
              </a:rPr>
              <a:t>syahadat rasul</a:t>
            </a:r>
            <a:r>
              <a:rPr lang="id-ID" sz="1800" dirty="0">
                <a:latin typeface="+mn-lt"/>
              </a:rPr>
              <a:t>.</a:t>
            </a:r>
            <a:r>
              <a:rPr lang="id-ID" sz="1800" b="1" dirty="0">
                <a:latin typeface="+mn-lt"/>
              </a:rPr>
              <a:t> </a:t>
            </a:r>
          </a:p>
          <a:p>
            <a:endParaRPr lang="en-US" sz="1800" dirty="0">
              <a:latin typeface="+mn-lt"/>
            </a:endParaRPr>
          </a:p>
        </p:txBody>
      </p:sp>
      <p:pic>
        <p:nvPicPr>
          <p:cNvPr id="11" name="Picture 10" descr="C:\Users\User\AppData\Local\Temp\Rar$DRa0.053\BAB 4\4 1.tif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7" t="3273" r="10540" b="6957"/>
          <a:stretch/>
        </p:blipFill>
        <p:spPr bwMode="auto">
          <a:xfrm>
            <a:off x="5960012" y="1210082"/>
            <a:ext cx="2802988" cy="311426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137105"/>
            <a:ext cx="22860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000" b="1" dirty="0"/>
              <a:t>Syahadatain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920210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pic>
        <p:nvPicPr>
          <p:cNvPr id="4" name="Content Placeholder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8" t="11924" r="6334" b="12073"/>
          <a:stretch/>
        </p:blipFill>
        <p:spPr>
          <a:xfrm>
            <a:off x="4905295" y="787349"/>
            <a:ext cx="3684432" cy="205592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5481629" y="995940"/>
            <a:ext cx="2936853" cy="16460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endParaRPr lang="ar-SA" sz="2400" b="1" dirty="0">
              <a:latin typeface="Adobe Naskh Medium" panose="01010101010101010101" pitchFamily="50" charset="-78"/>
              <a:cs typeface="Adobe Naskh Medium" panose="01010101010101010101" pitchFamily="50" charset="-78"/>
            </a:endParaRPr>
          </a:p>
          <a:p>
            <a:pPr algn="ctr" rtl="1"/>
            <a:r>
              <a:rPr lang="en-US" sz="2400" b="1" dirty="0" err="1">
                <a:latin typeface="+mn-lt"/>
              </a:rPr>
              <a:t>Aku</a:t>
            </a:r>
            <a:r>
              <a:rPr lang="en-US" sz="2400" b="1" dirty="0">
                <a:latin typeface="+mn-lt"/>
              </a:rPr>
              <a:t> </a:t>
            </a:r>
            <a:r>
              <a:rPr lang="en-US" sz="2400" b="1" dirty="0" err="1">
                <a:latin typeface="+mn-lt"/>
              </a:rPr>
              <a:t>bersaksi</a:t>
            </a:r>
            <a:r>
              <a:rPr lang="en-US" sz="2400" b="1" dirty="0">
                <a:latin typeface="+mn-lt"/>
              </a:rPr>
              <a:t> </a:t>
            </a:r>
            <a:r>
              <a:rPr lang="en-US" sz="2400" b="1" dirty="0" err="1">
                <a:latin typeface="+mn-lt"/>
              </a:rPr>
              <a:t>tiada</a:t>
            </a:r>
            <a:r>
              <a:rPr lang="en-US" sz="2400" b="1" dirty="0">
                <a:latin typeface="+mn-lt"/>
              </a:rPr>
              <a:t> </a:t>
            </a:r>
            <a:r>
              <a:rPr lang="en-US" sz="2400" b="1" dirty="0" err="1">
                <a:latin typeface="+mn-lt"/>
              </a:rPr>
              <a:t>Tuhan</a:t>
            </a:r>
            <a:r>
              <a:rPr lang="en-US" sz="2400" b="1" dirty="0">
                <a:latin typeface="+mn-lt"/>
              </a:rPr>
              <a:t> </a:t>
            </a:r>
            <a:r>
              <a:rPr lang="en-US" sz="2400" b="1" dirty="0" err="1">
                <a:latin typeface="+mn-lt"/>
              </a:rPr>
              <a:t>selain</a:t>
            </a:r>
            <a:r>
              <a:rPr lang="en-US" sz="2400" b="1" dirty="0">
                <a:latin typeface="+mn-lt"/>
              </a:rPr>
              <a:t> Allah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237016" y="3051863"/>
            <a:ext cx="3711615" cy="6579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800" dirty="0">
                <a:latin typeface="+mn-lt"/>
              </a:rPr>
              <a:t>Tauhid artinya Allah Swt. itu Esa.</a:t>
            </a:r>
            <a:br>
              <a:rPr lang="id-ID" sz="1800" dirty="0">
                <a:latin typeface="+mn-lt"/>
              </a:rPr>
            </a:br>
            <a:r>
              <a:rPr lang="id-ID" sz="1800" dirty="0">
                <a:latin typeface="+mn-lt"/>
              </a:rPr>
              <a:t>Esa artinya satu.</a:t>
            </a:r>
            <a:endParaRPr lang="en-US" sz="1800" dirty="0">
              <a:latin typeface="+mn-lt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238875" y="3568373"/>
            <a:ext cx="3905233" cy="1063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800" dirty="0">
                <a:latin typeface="+mn-lt"/>
              </a:rPr>
              <a:t>Tuhan yang disembah hanya Allah Swt.</a:t>
            </a:r>
          </a:p>
          <a:p>
            <a:r>
              <a:rPr lang="id-ID" sz="1800" dirty="0">
                <a:latin typeface="+mn-lt"/>
              </a:rPr>
              <a:t>Menyembah selain Allah Swt. akan </a:t>
            </a:r>
          </a:p>
          <a:p>
            <a:r>
              <a:rPr lang="id-ID" sz="1800" dirty="0">
                <a:latin typeface="+mn-lt"/>
              </a:rPr>
              <a:t>mendapat dosa.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37105"/>
            <a:ext cx="22860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000" b="1" dirty="0"/>
              <a:t>Syahadat Tauhid</a:t>
            </a:r>
            <a:endParaRPr lang="en-US" sz="20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91" y="1750490"/>
            <a:ext cx="2295464" cy="2653225"/>
          </a:xfrm>
          <a:prstGeom prst="rect">
            <a:avLst/>
          </a:prstGeom>
        </p:spPr>
      </p:pic>
      <p:sp>
        <p:nvSpPr>
          <p:cNvPr id="2" name="Minus 1"/>
          <p:cNvSpPr/>
          <p:nvPr/>
        </p:nvSpPr>
        <p:spPr>
          <a:xfrm>
            <a:off x="3996528" y="2114550"/>
            <a:ext cx="96010" cy="3341076"/>
          </a:xfrm>
          <a:prstGeom prst="mathMinus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54" b="25382"/>
          <a:stretch/>
        </p:blipFill>
        <p:spPr>
          <a:xfrm rot="10550897">
            <a:off x="2210358" y="566462"/>
            <a:ext cx="2654165" cy="1222513"/>
          </a:xfrm>
          <a:prstGeom prst="rect">
            <a:avLst/>
          </a:prstGeom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2718753" y="857878"/>
            <a:ext cx="2081847" cy="6579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2000" b="1" dirty="0">
                <a:latin typeface="+mn-lt"/>
              </a:rPr>
              <a:t>Apa itu syahadat tauhid?</a:t>
            </a:r>
            <a:endParaRPr lang="en-US" sz="2000" b="1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B7432-6587-FC8E-9962-389CFD9655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1165772"/>
            <a:ext cx="2542647" cy="49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370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2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4" t="15260" r="3347" b="13248"/>
          <a:stretch/>
        </p:blipFill>
        <p:spPr>
          <a:xfrm>
            <a:off x="4724400" y="949901"/>
            <a:ext cx="4343400" cy="1884871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5060668" y="1400450"/>
            <a:ext cx="3563813" cy="11502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endParaRPr lang="ar-SA" sz="2400" b="1" dirty="0">
              <a:latin typeface="Adobe Naskh Medium" panose="01010101010101010101" pitchFamily="50" charset="-78"/>
              <a:cs typeface="Adobe Naskh Medium" panose="01010101010101010101" pitchFamily="50" charset="-78"/>
            </a:endParaRPr>
          </a:p>
          <a:p>
            <a:pPr algn="ctr" rtl="1"/>
            <a:r>
              <a:rPr lang="en-US" sz="2000" b="1" dirty="0">
                <a:latin typeface="+mn-lt"/>
              </a:rPr>
              <a:t>Dan Aku </a:t>
            </a:r>
            <a:r>
              <a:rPr lang="en-US" sz="2000" b="1" dirty="0" err="1">
                <a:latin typeface="+mn-lt"/>
              </a:rPr>
              <a:t>bersaksi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bahwa</a:t>
            </a:r>
            <a:r>
              <a:rPr lang="en-US" sz="2000" b="1" dirty="0">
                <a:latin typeface="+mn-lt"/>
              </a:rPr>
              <a:t> Nabi Muhamad </a:t>
            </a:r>
            <a:r>
              <a:rPr lang="en-US" sz="2000" b="1" dirty="0" err="1">
                <a:latin typeface="+mn-lt"/>
              </a:rPr>
              <a:t>utusan</a:t>
            </a:r>
            <a:r>
              <a:rPr lang="en-US" sz="2000" b="1" dirty="0">
                <a:latin typeface="+mn-lt"/>
              </a:rPr>
              <a:t> Allah</a:t>
            </a:r>
            <a:endParaRPr lang="ar-SA" sz="2000" dirty="0"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37105"/>
            <a:ext cx="22860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000" b="1" dirty="0"/>
              <a:t>Syahadat Rasul</a:t>
            </a:r>
            <a:endParaRPr lang="en-US" sz="20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38350"/>
            <a:ext cx="2834069" cy="2334371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4224455" y="2888730"/>
            <a:ext cx="4648200" cy="1637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id-ID" sz="1800" dirty="0">
                <a:latin typeface="+mn-lt"/>
              </a:rPr>
              <a:t>Syahadat rasul artinya bersaksi bahwa Nabi Muhammad Saw. Itu utusan Allah Swt. </a:t>
            </a:r>
          </a:p>
          <a:p>
            <a:pPr algn="just"/>
            <a:r>
              <a:rPr lang="id-ID" sz="1800" dirty="0">
                <a:latin typeface="+mn-lt"/>
              </a:rPr>
              <a:t>Nabi Muhammad Saw. adalah rasul Allah Swt. </a:t>
            </a:r>
          </a:p>
          <a:p>
            <a:pPr algn="just"/>
            <a:r>
              <a:rPr lang="id-ID" sz="1800" dirty="0">
                <a:latin typeface="+mn-lt"/>
              </a:rPr>
              <a:t>Nabi Muhammad Saw. memiliki akhlak terpuji.</a:t>
            </a:r>
          </a:p>
          <a:p>
            <a:pPr algn="just"/>
            <a:r>
              <a:rPr lang="id-ID" sz="1800" dirty="0">
                <a:latin typeface="+mn-lt"/>
              </a:rPr>
              <a:t>Akhlak Nabi Muhammad Saw. harus dicontoh.</a:t>
            </a:r>
          </a:p>
          <a:p>
            <a:pPr algn="just"/>
            <a:r>
              <a:rPr lang="id-ID" sz="1800" dirty="0">
                <a:latin typeface="+mn-lt"/>
              </a:rPr>
              <a:t>Nabi Muhammad Saw. itu suri teladan yang baik.</a:t>
            </a:r>
            <a:endParaRPr lang="en-US" sz="1800" dirty="0">
              <a:latin typeface="+mn-lt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54" b="25382"/>
          <a:stretch/>
        </p:blipFill>
        <p:spPr>
          <a:xfrm rot="10550897">
            <a:off x="1826912" y="887437"/>
            <a:ext cx="2361271" cy="1087606"/>
          </a:xfrm>
          <a:prstGeom prst="rect">
            <a:avLst/>
          </a:prstGeom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2142608" y="1071451"/>
            <a:ext cx="2081847" cy="6579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2000" b="1" dirty="0">
                <a:latin typeface="+mn-lt"/>
              </a:rPr>
              <a:t>Apa itu syahadat rasul?</a:t>
            </a:r>
            <a:endParaRPr lang="en-US" sz="2000" b="1" dirty="0">
              <a:latin typeface="+mn-lt"/>
            </a:endParaRPr>
          </a:p>
        </p:txBody>
      </p:sp>
      <p:sp>
        <p:nvSpPr>
          <p:cNvPr id="18" name="Minus 17"/>
          <p:cNvSpPr/>
          <p:nvPr/>
        </p:nvSpPr>
        <p:spPr>
          <a:xfrm>
            <a:off x="3996528" y="2159155"/>
            <a:ext cx="96010" cy="3341076"/>
          </a:xfrm>
          <a:prstGeom prst="mathMinus">
            <a:avLst/>
          </a:prstGeom>
          <a:solidFill>
            <a:srgbClr val="ACF5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E05010-87E5-9D72-6699-1767E0142E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1352550"/>
            <a:ext cx="2406801" cy="50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871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8225"/>
            <a:ext cx="9144000" cy="529999"/>
          </a:xfrm>
          <a:prstGeom prst="rect">
            <a:avLst/>
          </a:prstGeom>
        </p:spPr>
      </p:pic>
      <p:pic>
        <p:nvPicPr>
          <p:cNvPr id="2052" name="Picture 4" descr="Borders Pic PNG Transparent Background, Free Download #22987 - FreeIcons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3" y="1749404"/>
            <a:ext cx="4648200" cy="290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44237" y="2086576"/>
            <a:ext cx="4421673" cy="2133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id-ID" sz="1800" dirty="0">
                <a:latin typeface="+mn-lt"/>
              </a:rPr>
              <a:t>Percaya bahwa Allah Maha Esa.</a:t>
            </a:r>
          </a:p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id-ID" sz="1800" dirty="0">
                <a:latin typeface="+mn-lt"/>
              </a:rPr>
              <a:t>Percaya bahwa Nabi Muhammad Saw. Utusan Allah Swt.</a:t>
            </a:r>
          </a:p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id-ID" sz="1800" dirty="0">
                <a:latin typeface="+mn-lt"/>
              </a:rPr>
              <a:t>Rajin mengerjakan salat.</a:t>
            </a:r>
          </a:p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id-ID" sz="1800" dirty="0">
                <a:latin typeface="+mn-lt"/>
              </a:rPr>
              <a:t>Gemar membaca Al-Qur’an.</a:t>
            </a:r>
          </a:p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id-ID" sz="1800" dirty="0">
                <a:latin typeface="+mn-lt"/>
              </a:rPr>
              <a:t>Meneladani akhlak Nabi Muhammad Saw.</a:t>
            </a:r>
          </a:p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id-ID" sz="1800" dirty="0">
                <a:latin typeface="+mn-lt"/>
              </a:rPr>
              <a:t>Suka berbuat baik kepada orang lain, seperti menjenguk teman yang sakit.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581150"/>
            <a:ext cx="2971800" cy="3067075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524000" y="880588"/>
            <a:ext cx="5287863" cy="486537"/>
            <a:chOff x="-1926722" y="9108"/>
            <a:chExt cx="5287863" cy="486537"/>
          </a:xfrm>
        </p:grpSpPr>
        <p:sp>
          <p:nvSpPr>
            <p:cNvPr id="11" name="Rectangle 10"/>
            <p:cNvSpPr/>
            <p:nvPr/>
          </p:nvSpPr>
          <p:spPr>
            <a:xfrm>
              <a:off x="-1916073" y="9108"/>
              <a:ext cx="527721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id-ID" sz="2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</a:rPr>
                <a:t>Penerapan kalimat </a:t>
              </a:r>
              <a:r>
                <a:rPr lang="id-ID" sz="2000" b="1" i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</a:rPr>
                <a:t>syahadatain</a:t>
              </a:r>
              <a:r>
                <a:rPr lang="id-ID" sz="20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</a:rPr>
                <a:t> sebagai berikut:</a:t>
              </a:r>
              <a:endParaRPr lang="sv-SE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1926722" y="495645"/>
              <a:ext cx="5234211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0" y="137105"/>
            <a:ext cx="22860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000" b="1" dirty="0"/>
              <a:t>Syahadatain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53222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pic>
        <p:nvPicPr>
          <p:cNvPr id="4" name="Picture 3" descr="Muslim little boys and girls holding an empty whiteboard. muslim kids cartoon . Premium Vector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3511"/>
            <a:ext cx="1981200" cy="10264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lded Corner 1"/>
          <p:cNvSpPr/>
          <p:nvPr/>
        </p:nvSpPr>
        <p:spPr>
          <a:xfrm>
            <a:off x="914400" y="1437174"/>
            <a:ext cx="5334000" cy="2873607"/>
          </a:xfrm>
          <a:prstGeom prst="foldedCorner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  <a:scene3d>
            <a:camera prst="perspective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90600" y="1454246"/>
            <a:ext cx="4572000" cy="28736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Rukun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Islam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lima.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Kalimat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syahadatain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adalah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rukun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islam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pertama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Syahadat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artinya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kesaksian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Syahadat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tauhid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berarti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bersaksi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bahwa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tidak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Tuhan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selain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Allah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Syahadat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rasul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artinya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bersaksi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bahwa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Nabi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Muhammad Saw.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utusan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Allah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29050" y="622832"/>
            <a:ext cx="1485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Rangkuman</a:t>
            </a:r>
            <a:endParaRPr lang="en-US" sz="2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270037"/>
            <a:ext cx="1717526" cy="3302756"/>
          </a:xfrm>
          <a:prstGeom prst="rect">
            <a:avLst/>
          </a:prstGeom>
        </p:spPr>
      </p:pic>
      <p:pic>
        <p:nvPicPr>
          <p:cNvPr id="8" name="Picture 2" descr="Isolated bundle of book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84" y="916297"/>
            <a:ext cx="824832" cy="54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414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1956</TotalTime>
  <Words>305</Words>
  <Application>Microsoft Office PowerPoint</Application>
  <PresentationFormat>On-screen Show (16:9)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Adobe Naskh Medium</vt:lpstr>
      <vt:lpstr>Arial</vt:lpstr>
      <vt:lpstr>Calibri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Eka Nurdiana</dc:creator>
  <cp:lastModifiedBy>Lenovo Ideapad</cp:lastModifiedBy>
  <cp:revision>69</cp:revision>
  <dcterms:created xsi:type="dcterms:W3CDTF">2022-01-17T01:37:52Z</dcterms:created>
  <dcterms:modified xsi:type="dcterms:W3CDTF">2026-01-03T14:13:37Z</dcterms:modified>
</cp:coreProperties>
</file>