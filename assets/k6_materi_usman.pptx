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stoga" charset="1" panose="00000500000000000000"/>
      <p:regular r:id="rId22"/>
    </p:embeddedFont>
    <p:embeddedFont>
      <p:font typeface="Boriboon" charset="1" panose="00000000000000000000"/>
      <p:regular r:id="rId23"/>
    </p:embeddedFont>
    <p:embeddedFont>
      <p:font typeface="Open Sans Bold" charset="1" panose="020B0806030504020204"/>
      <p:regular r:id="rId24"/>
    </p:embeddedFont>
    <p:embeddedFont>
      <p:font typeface="Boriboon Medium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2716"/>
            <a:ext cx="12724969" cy="9827663"/>
          </a:xfrm>
          <a:custGeom>
            <a:avLst/>
            <a:gdLst/>
            <a:ahLst/>
            <a:cxnLst/>
            <a:rect r="r" b="b" t="t" l="l"/>
            <a:pathLst>
              <a:path h="9827663" w="12724969">
                <a:moveTo>
                  <a:pt x="0" y="0"/>
                </a:moveTo>
                <a:lnTo>
                  <a:pt x="12724969" y="0"/>
                </a:lnTo>
                <a:lnTo>
                  <a:pt x="12724969" y="9827663"/>
                </a:lnTo>
                <a:lnTo>
                  <a:pt x="0" y="9827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0286" y="2476268"/>
            <a:ext cx="14537423" cy="119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7"/>
              </a:lnSpc>
            </a:pPr>
            <a:r>
              <a:rPr lang="en-US" sz="8301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Bismillaahirrohmaanirrahiim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99726" y="832495"/>
            <a:ext cx="830559" cy="83055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99726" y="1794288"/>
            <a:ext cx="830559" cy="8305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99726" y="2756080"/>
            <a:ext cx="830559" cy="83055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99726" y="3717873"/>
            <a:ext cx="830559" cy="8305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9726" y="4679665"/>
            <a:ext cx="830559" cy="8305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726" y="5641458"/>
            <a:ext cx="830559" cy="83055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99726" y="6603251"/>
            <a:ext cx="830559" cy="83055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99726" y="7565043"/>
            <a:ext cx="830559" cy="83055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99726" y="8526836"/>
            <a:ext cx="830559" cy="83055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1383972">
            <a:off x="12058325" y="6048982"/>
            <a:ext cx="1817565" cy="4693242"/>
          </a:xfrm>
          <a:custGeom>
            <a:avLst/>
            <a:gdLst/>
            <a:ahLst/>
            <a:cxnLst/>
            <a:rect r="r" b="b" t="t" l="l"/>
            <a:pathLst>
              <a:path h="4693242" w="1817565">
                <a:moveTo>
                  <a:pt x="0" y="0"/>
                </a:moveTo>
                <a:lnTo>
                  <a:pt x="1817564" y="0"/>
                </a:lnTo>
                <a:lnTo>
                  <a:pt x="1817564" y="4693241"/>
                </a:lnTo>
                <a:lnTo>
                  <a:pt x="0" y="4693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808550" y="102870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08550" y="2006756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808550" y="2984813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808550" y="3962869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808550" y="4940925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808550" y="5918982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808550" y="6897038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808550" y="7875094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808550" y="885315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042" y="432716"/>
            <a:ext cx="12724969" cy="9827663"/>
          </a:xfrm>
          <a:custGeom>
            <a:avLst/>
            <a:gdLst/>
            <a:ahLst/>
            <a:cxnLst/>
            <a:rect r="r" b="b" t="t" l="l"/>
            <a:pathLst>
              <a:path h="9827663" w="12724969">
                <a:moveTo>
                  <a:pt x="0" y="0"/>
                </a:moveTo>
                <a:lnTo>
                  <a:pt x="12724969" y="0"/>
                </a:lnTo>
                <a:lnTo>
                  <a:pt x="12724969" y="9827663"/>
                </a:lnTo>
                <a:lnTo>
                  <a:pt x="0" y="9827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042" y="2410284"/>
            <a:ext cx="14948302" cy="557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8"/>
              </a:lnSpc>
            </a:pPr>
            <a:r>
              <a:rPr lang="en-US" sz="13034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Jasa -Jasa </a:t>
            </a:r>
          </a:p>
          <a:p>
            <a:pPr algn="ctr">
              <a:lnSpc>
                <a:spcPts val="14598"/>
              </a:lnSpc>
            </a:pPr>
            <a:r>
              <a:rPr lang="en-US" sz="13034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Khalifah </a:t>
            </a:r>
          </a:p>
          <a:p>
            <a:pPr algn="ctr">
              <a:lnSpc>
                <a:spcPts val="14598"/>
              </a:lnSpc>
            </a:pPr>
            <a:r>
              <a:rPr lang="en-US" sz="13034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Usman Bin Affan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99726" y="832495"/>
            <a:ext cx="830559" cy="83055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99726" y="1794288"/>
            <a:ext cx="830559" cy="8305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99726" y="2756080"/>
            <a:ext cx="830559" cy="83055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99726" y="3717873"/>
            <a:ext cx="830559" cy="8305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9726" y="4679665"/>
            <a:ext cx="830559" cy="8305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726" y="5641458"/>
            <a:ext cx="830559" cy="83055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99726" y="6603251"/>
            <a:ext cx="830559" cy="83055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99726" y="7565043"/>
            <a:ext cx="830559" cy="83055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99726" y="8526836"/>
            <a:ext cx="830559" cy="83055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1383972">
            <a:off x="12058325" y="6048982"/>
            <a:ext cx="1817565" cy="4693242"/>
          </a:xfrm>
          <a:custGeom>
            <a:avLst/>
            <a:gdLst/>
            <a:ahLst/>
            <a:cxnLst/>
            <a:rect r="r" b="b" t="t" l="l"/>
            <a:pathLst>
              <a:path h="4693242" w="1817565">
                <a:moveTo>
                  <a:pt x="0" y="0"/>
                </a:moveTo>
                <a:lnTo>
                  <a:pt x="1817564" y="0"/>
                </a:lnTo>
                <a:lnTo>
                  <a:pt x="1817564" y="4693241"/>
                </a:lnTo>
                <a:lnTo>
                  <a:pt x="0" y="4693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808550" y="102870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08550" y="2006756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808550" y="2984813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808550" y="3962869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808550" y="4940925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808550" y="5918982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808550" y="6897038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808550" y="7875094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808550" y="885315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936" y="95730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27699" y="5072403"/>
            <a:ext cx="1676797" cy="1695291"/>
          </a:xfrm>
          <a:custGeom>
            <a:avLst/>
            <a:gdLst/>
            <a:ahLst/>
            <a:cxnLst/>
            <a:rect r="r" b="b" t="t" l="l"/>
            <a:pathLst>
              <a:path h="1695291" w="1676797">
                <a:moveTo>
                  <a:pt x="0" y="0"/>
                </a:moveTo>
                <a:lnTo>
                  <a:pt x="1676797" y="0"/>
                </a:lnTo>
                <a:lnTo>
                  <a:pt x="1676797" y="1695291"/>
                </a:lnTo>
                <a:lnTo>
                  <a:pt x="0" y="169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05" y="5144642"/>
            <a:ext cx="1533895" cy="1550813"/>
          </a:xfrm>
          <a:custGeom>
            <a:avLst/>
            <a:gdLst/>
            <a:ahLst/>
            <a:cxnLst/>
            <a:rect r="r" b="b" t="t" l="l"/>
            <a:pathLst>
              <a:path h="1550813" w="1533895">
                <a:moveTo>
                  <a:pt x="0" y="0"/>
                </a:moveTo>
                <a:lnTo>
                  <a:pt x="1533894" y="0"/>
                </a:lnTo>
                <a:lnTo>
                  <a:pt x="1533894" y="1550813"/>
                </a:lnTo>
                <a:lnTo>
                  <a:pt x="0" y="155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6098" y="545465"/>
            <a:ext cx="9155804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Tujuan Pembelajaran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1207" y="2451361"/>
            <a:ext cx="14565982" cy="605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peserta didik mampu :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Mengenal khalifah Uṡman bin Affan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Menjelaskan jasa-jasa khalifah Uṣmān bin Affān 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Membuat paparan tentang jasa khalifah Uṡman bin Affan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Meneladani jasa-jasa dan perjuangannya dalam kehidupan sehari-hari.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5262" y="65312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2"/>
                </a:lnTo>
                <a:lnTo>
                  <a:pt x="0" y="89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76120" y="2424013"/>
            <a:ext cx="7535761" cy="20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Siapakah Usman Bin Affan????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90633" y="4961479"/>
            <a:ext cx="13070734" cy="398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“Mengapa Utsman bin Affan dikenal sebagai pemimpin yang dermawan dan visioner dalam sejarah Islam?”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936" y="95730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27699" y="5072403"/>
            <a:ext cx="1676797" cy="1695291"/>
          </a:xfrm>
          <a:custGeom>
            <a:avLst/>
            <a:gdLst/>
            <a:ahLst/>
            <a:cxnLst/>
            <a:rect r="r" b="b" t="t" l="l"/>
            <a:pathLst>
              <a:path h="1695291" w="1676797">
                <a:moveTo>
                  <a:pt x="0" y="0"/>
                </a:moveTo>
                <a:lnTo>
                  <a:pt x="1676797" y="0"/>
                </a:lnTo>
                <a:lnTo>
                  <a:pt x="1676797" y="1695291"/>
                </a:lnTo>
                <a:lnTo>
                  <a:pt x="0" y="169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05" y="5144642"/>
            <a:ext cx="1533895" cy="1550813"/>
          </a:xfrm>
          <a:custGeom>
            <a:avLst/>
            <a:gdLst/>
            <a:ahLst/>
            <a:cxnLst/>
            <a:rect r="r" b="b" t="t" l="l"/>
            <a:pathLst>
              <a:path h="1550813" w="1533895">
                <a:moveTo>
                  <a:pt x="0" y="0"/>
                </a:moveTo>
                <a:lnTo>
                  <a:pt x="1533894" y="0"/>
                </a:lnTo>
                <a:lnTo>
                  <a:pt x="1533894" y="1550813"/>
                </a:lnTo>
                <a:lnTo>
                  <a:pt x="0" y="155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342936" y="1559560"/>
            <a:ext cx="15916364" cy="8378495"/>
            <a:chOff x="0" y="0"/>
            <a:chExt cx="1356115" cy="713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6115" cy="704286"/>
            </a:xfrm>
            <a:custGeom>
              <a:avLst/>
              <a:gdLst/>
              <a:ahLst/>
              <a:cxnLst/>
              <a:rect r="r" b="b" t="t" l="l"/>
              <a:pathLst>
                <a:path h="704286" w="1356115">
                  <a:moveTo>
                    <a:pt x="1346805" y="0"/>
                  </a:moveTo>
                  <a:lnTo>
                    <a:pt x="9310" y="0"/>
                  </a:lnTo>
                  <a:cubicBezTo>
                    <a:pt x="4168" y="0"/>
                    <a:pt x="0" y="4168"/>
                    <a:pt x="0" y="9310"/>
                  </a:cubicBezTo>
                  <a:lnTo>
                    <a:pt x="0" y="640384"/>
                  </a:lnTo>
                  <a:cubicBezTo>
                    <a:pt x="72134" y="695837"/>
                    <a:pt x="302962" y="750983"/>
                    <a:pt x="649203" y="640384"/>
                  </a:cubicBezTo>
                  <a:cubicBezTo>
                    <a:pt x="995447" y="507292"/>
                    <a:pt x="1264746" y="584928"/>
                    <a:pt x="1356115" y="640384"/>
                  </a:cubicBezTo>
                  <a:lnTo>
                    <a:pt x="1356115" y="9310"/>
                  </a:lnTo>
                  <a:cubicBezTo>
                    <a:pt x="1356115" y="4168"/>
                    <a:pt x="1351947" y="0"/>
                    <a:pt x="1346805" y="0"/>
                  </a:cubicBezTo>
                  <a:close/>
                </a:path>
              </a:pathLst>
            </a:custGeom>
            <a:solidFill>
              <a:srgbClr val="F5CA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56115" cy="598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59209" y="4069935"/>
            <a:ext cx="4193489" cy="4114800"/>
          </a:xfrm>
          <a:custGeom>
            <a:avLst/>
            <a:gdLst/>
            <a:ahLst/>
            <a:cxnLst/>
            <a:rect r="r" b="b" t="t" l="l"/>
            <a:pathLst>
              <a:path h="4114800" w="4193489">
                <a:moveTo>
                  <a:pt x="0" y="0"/>
                </a:moveTo>
                <a:lnTo>
                  <a:pt x="4193490" y="0"/>
                </a:lnTo>
                <a:lnTo>
                  <a:pt x="41934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45465"/>
            <a:ext cx="16230600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Fakta Khalifah Usman Bin Affan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73" y="1949617"/>
            <a:ext cx="18040855" cy="156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4"/>
              </a:lnSpc>
            </a:pPr>
            <a:r>
              <a:rPr lang="en-US" sz="9274" b="true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coba perhatikan apakah ini....?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936" y="95730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27699" y="5072403"/>
            <a:ext cx="1676797" cy="1695291"/>
          </a:xfrm>
          <a:custGeom>
            <a:avLst/>
            <a:gdLst/>
            <a:ahLst/>
            <a:cxnLst/>
            <a:rect r="r" b="b" t="t" l="l"/>
            <a:pathLst>
              <a:path h="1695291" w="1676797">
                <a:moveTo>
                  <a:pt x="0" y="0"/>
                </a:moveTo>
                <a:lnTo>
                  <a:pt x="1676797" y="0"/>
                </a:lnTo>
                <a:lnTo>
                  <a:pt x="1676797" y="1695291"/>
                </a:lnTo>
                <a:lnTo>
                  <a:pt x="0" y="169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05" y="5144642"/>
            <a:ext cx="1533895" cy="1550813"/>
          </a:xfrm>
          <a:custGeom>
            <a:avLst/>
            <a:gdLst/>
            <a:ahLst/>
            <a:cxnLst/>
            <a:rect r="r" b="b" t="t" l="l"/>
            <a:pathLst>
              <a:path h="1550813" w="1533895">
                <a:moveTo>
                  <a:pt x="0" y="0"/>
                </a:moveTo>
                <a:lnTo>
                  <a:pt x="1533894" y="0"/>
                </a:lnTo>
                <a:lnTo>
                  <a:pt x="1533894" y="1550813"/>
                </a:lnTo>
                <a:lnTo>
                  <a:pt x="0" y="155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342936" y="1559560"/>
            <a:ext cx="15916364" cy="8378495"/>
            <a:chOff x="0" y="0"/>
            <a:chExt cx="1356115" cy="713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6115" cy="704286"/>
            </a:xfrm>
            <a:custGeom>
              <a:avLst/>
              <a:gdLst/>
              <a:ahLst/>
              <a:cxnLst/>
              <a:rect r="r" b="b" t="t" l="l"/>
              <a:pathLst>
                <a:path h="704286" w="1356115">
                  <a:moveTo>
                    <a:pt x="1346805" y="0"/>
                  </a:moveTo>
                  <a:lnTo>
                    <a:pt x="9310" y="0"/>
                  </a:lnTo>
                  <a:cubicBezTo>
                    <a:pt x="4168" y="0"/>
                    <a:pt x="0" y="4168"/>
                    <a:pt x="0" y="9310"/>
                  </a:cubicBezTo>
                  <a:lnTo>
                    <a:pt x="0" y="640384"/>
                  </a:lnTo>
                  <a:cubicBezTo>
                    <a:pt x="72134" y="695837"/>
                    <a:pt x="302962" y="750983"/>
                    <a:pt x="649203" y="640384"/>
                  </a:cubicBezTo>
                  <a:cubicBezTo>
                    <a:pt x="995447" y="507292"/>
                    <a:pt x="1264746" y="584928"/>
                    <a:pt x="1356115" y="640384"/>
                  </a:cubicBezTo>
                  <a:lnTo>
                    <a:pt x="1356115" y="9310"/>
                  </a:lnTo>
                  <a:cubicBezTo>
                    <a:pt x="1356115" y="4168"/>
                    <a:pt x="1351947" y="0"/>
                    <a:pt x="1346805" y="0"/>
                  </a:cubicBezTo>
                  <a:close/>
                </a:path>
              </a:pathLst>
            </a:custGeom>
            <a:solidFill>
              <a:srgbClr val="F5CA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56115" cy="598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45465"/>
            <a:ext cx="16230600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Fakta Khalifah Usman Bin Affan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502" y="2184589"/>
            <a:ext cx="18246498" cy="660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Nama Lengkapnya adalah Usman bin Affan bin  Abi Al-’as bin Umayyah bin Abi Syam bin Abi Manaf R.A</a:t>
            </a:r>
          </a:p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Pada Masa Jahiliyah dipanggil Abu Amr, dan Abu Layla karena kelembutannya.</a:t>
            </a:r>
          </a:p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Khalifah ke-3 sepeninggal Rasulullah</a:t>
            </a:r>
          </a:p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Sahabat yang sukses menjadi ekpsportir dan importir perdagangan kaya raya dan dermawan.</a:t>
            </a:r>
          </a:p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Khalifah ke-3 sepeninggal Rasulullah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936" y="95730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27699" y="5072403"/>
            <a:ext cx="1676797" cy="1695291"/>
          </a:xfrm>
          <a:custGeom>
            <a:avLst/>
            <a:gdLst/>
            <a:ahLst/>
            <a:cxnLst/>
            <a:rect r="r" b="b" t="t" l="l"/>
            <a:pathLst>
              <a:path h="1695291" w="1676797">
                <a:moveTo>
                  <a:pt x="0" y="0"/>
                </a:moveTo>
                <a:lnTo>
                  <a:pt x="1676797" y="0"/>
                </a:lnTo>
                <a:lnTo>
                  <a:pt x="1676797" y="1695291"/>
                </a:lnTo>
                <a:lnTo>
                  <a:pt x="0" y="169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05" y="5144642"/>
            <a:ext cx="1533895" cy="1550813"/>
          </a:xfrm>
          <a:custGeom>
            <a:avLst/>
            <a:gdLst/>
            <a:ahLst/>
            <a:cxnLst/>
            <a:rect r="r" b="b" t="t" l="l"/>
            <a:pathLst>
              <a:path h="1550813" w="1533895">
                <a:moveTo>
                  <a:pt x="0" y="0"/>
                </a:moveTo>
                <a:lnTo>
                  <a:pt x="1533894" y="0"/>
                </a:lnTo>
                <a:lnTo>
                  <a:pt x="1533894" y="1550813"/>
                </a:lnTo>
                <a:lnTo>
                  <a:pt x="0" y="155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342936" y="1730800"/>
            <a:ext cx="15916364" cy="8378495"/>
            <a:chOff x="0" y="0"/>
            <a:chExt cx="1356115" cy="713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6115" cy="704286"/>
            </a:xfrm>
            <a:custGeom>
              <a:avLst/>
              <a:gdLst/>
              <a:ahLst/>
              <a:cxnLst/>
              <a:rect r="r" b="b" t="t" l="l"/>
              <a:pathLst>
                <a:path h="704286" w="1356115">
                  <a:moveTo>
                    <a:pt x="1346805" y="0"/>
                  </a:moveTo>
                  <a:lnTo>
                    <a:pt x="9310" y="0"/>
                  </a:lnTo>
                  <a:cubicBezTo>
                    <a:pt x="4168" y="0"/>
                    <a:pt x="0" y="4168"/>
                    <a:pt x="0" y="9310"/>
                  </a:cubicBezTo>
                  <a:lnTo>
                    <a:pt x="0" y="640384"/>
                  </a:lnTo>
                  <a:cubicBezTo>
                    <a:pt x="72134" y="695837"/>
                    <a:pt x="302962" y="750983"/>
                    <a:pt x="649203" y="640384"/>
                  </a:cubicBezTo>
                  <a:cubicBezTo>
                    <a:pt x="995447" y="507292"/>
                    <a:pt x="1264746" y="584928"/>
                    <a:pt x="1356115" y="640384"/>
                  </a:cubicBezTo>
                  <a:lnTo>
                    <a:pt x="1356115" y="9310"/>
                  </a:lnTo>
                  <a:cubicBezTo>
                    <a:pt x="1356115" y="4168"/>
                    <a:pt x="1351947" y="0"/>
                    <a:pt x="1346805" y="0"/>
                  </a:cubicBezTo>
                  <a:close/>
                </a:path>
              </a:pathLst>
            </a:custGeom>
            <a:solidFill>
              <a:srgbClr val="F5CA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56115" cy="598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45465"/>
            <a:ext cx="16230600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Fakta Khalifah Usman Bin Affan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936" y="3013264"/>
            <a:ext cx="15916364" cy="660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Setelah masuk Islam dikenal dengan Abu Abdullah diambil dari nama putranya bersama Ruqayyah putri Rasulullah. </a:t>
            </a:r>
          </a:p>
          <a:p>
            <a:pPr algn="l" marL="1009364" indent="-504682" lvl="1">
              <a:lnSpc>
                <a:spcPts val="6545"/>
              </a:lnSpc>
              <a:buFont typeface="Arial"/>
              <a:buChar char="•"/>
            </a:pPr>
            <a:r>
              <a:rPr lang="en-US" b="true" sz="46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Usman diberi julukan Zunnurrain artinya pemilik 2 cahaya, karena beliau menikah dengan dua orang putri Rosulullah yakni Ruqayyah dan Ummi Kaltsum</a:t>
            </a:r>
          </a:p>
          <a:p>
            <a:pPr algn="l">
              <a:lnSpc>
                <a:spcPts val="654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1028700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2"/>
                </a:lnTo>
                <a:lnTo>
                  <a:pt x="0" y="89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45874" y="2641173"/>
            <a:ext cx="14121038" cy="6149318"/>
          </a:xfrm>
          <a:custGeom>
            <a:avLst/>
            <a:gdLst/>
            <a:ahLst/>
            <a:cxnLst/>
            <a:rect r="r" b="b" t="t" l="l"/>
            <a:pathLst>
              <a:path h="6149318" w="14121038">
                <a:moveTo>
                  <a:pt x="0" y="0"/>
                </a:moveTo>
                <a:lnTo>
                  <a:pt x="14121038" y="0"/>
                </a:lnTo>
                <a:lnTo>
                  <a:pt x="14121038" y="6149318"/>
                </a:lnTo>
                <a:lnTo>
                  <a:pt x="0" y="614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865" r="0" b="-697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96252" y="528447"/>
            <a:ext cx="9847067" cy="20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Jasa-Jasa Khalifah Usman Bin Affan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944" y="9231703"/>
            <a:ext cx="18499683" cy="77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44279" indent="-572139" lvl="1">
              <a:lnSpc>
                <a:spcPts val="5936"/>
              </a:lnSpc>
              <a:buAutoNum type="arabicPeriod" startAt="1"/>
            </a:pPr>
            <a:r>
              <a:rPr lang="en-US" sz="5300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Menyempurnakan Masjid Nabawi di Madinah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1028700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2"/>
                </a:lnTo>
                <a:lnTo>
                  <a:pt x="0" y="89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0538">
            <a:off x="15854397" y="3411633"/>
            <a:ext cx="1025031" cy="2646794"/>
          </a:xfrm>
          <a:custGeom>
            <a:avLst/>
            <a:gdLst/>
            <a:ahLst/>
            <a:cxnLst/>
            <a:rect r="r" b="b" t="t" l="l"/>
            <a:pathLst>
              <a:path h="2646794" w="1025031">
                <a:moveTo>
                  <a:pt x="0" y="0"/>
                </a:moveTo>
                <a:lnTo>
                  <a:pt x="1025031" y="0"/>
                </a:lnTo>
                <a:lnTo>
                  <a:pt x="1025031" y="2646794"/>
                </a:lnTo>
                <a:lnTo>
                  <a:pt x="0" y="2646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96252" y="528447"/>
            <a:ext cx="9847067" cy="20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Jasa-Jasa Khalifah Usman Bin Affan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45923"/>
            <a:ext cx="16230600" cy="664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4753" b="true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Khalifah Uṡman bin Affan membangun dan memperluas masjid Nabawi pada bagian Selatan, Barat dan Utara hingga sebesar 470 meter persegi dilakukan pada tahun 29 Hijriah (649 M). Masjid Nab</a:t>
            </a:r>
            <a:r>
              <a:rPr lang="en-US" b="true" sz="4753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awi telah mengalami beberapa kali perubahan dan perbaikan hingga sekarang telah memiliki luas kurang lebih 400.327 meter persegi yang bisa menampung lebih dari satu juta jamaah.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244655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0948" y="4735030"/>
            <a:ext cx="1259165" cy="1273053"/>
          </a:xfrm>
          <a:custGeom>
            <a:avLst/>
            <a:gdLst/>
            <a:ahLst/>
            <a:cxnLst/>
            <a:rect r="r" b="b" t="t" l="l"/>
            <a:pathLst>
              <a:path h="1273053" w="1259165">
                <a:moveTo>
                  <a:pt x="0" y="0"/>
                </a:moveTo>
                <a:lnTo>
                  <a:pt x="1259165" y="0"/>
                </a:lnTo>
                <a:lnTo>
                  <a:pt x="1259165" y="1273053"/>
                </a:lnTo>
                <a:lnTo>
                  <a:pt x="0" y="1273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57457" y="3612876"/>
            <a:ext cx="1309455" cy="1323898"/>
          </a:xfrm>
          <a:custGeom>
            <a:avLst/>
            <a:gdLst/>
            <a:ahLst/>
            <a:cxnLst/>
            <a:rect r="r" b="b" t="t" l="l"/>
            <a:pathLst>
              <a:path h="1323898" w="1309455">
                <a:moveTo>
                  <a:pt x="0" y="0"/>
                </a:moveTo>
                <a:lnTo>
                  <a:pt x="1309455" y="0"/>
                </a:lnTo>
                <a:lnTo>
                  <a:pt x="1309455" y="1323897"/>
                </a:lnTo>
                <a:lnTo>
                  <a:pt x="0" y="1323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7809" y="1403960"/>
            <a:ext cx="7266550" cy="5562214"/>
          </a:xfrm>
          <a:custGeom>
            <a:avLst/>
            <a:gdLst/>
            <a:ahLst/>
            <a:cxnLst/>
            <a:rect r="r" b="b" t="t" l="l"/>
            <a:pathLst>
              <a:path h="5562214" w="7266550">
                <a:moveTo>
                  <a:pt x="0" y="0"/>
                </a:moveTo>
                <a:lnTo>
                  <a:pt x="7266550" y="0"/>
                </a:lnTo>
                <a:lnTo>
                  <a:pt x="7266550" y="5562214"/>
                </a:lnTo>
                <a:lnTo>
                  <a:pt x="0" y="5562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86973" y="499749"/>
            <a:ext cx="9063864" cy="815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799" b="true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2. Mengumpulkan musḥaf Al-Qur’an yang standar (kodiikasi musḥaf Al-Quran)</a:t>
            </a:r>
          </a:p>
          <a:p>
            <a:pPr algn="ctr">
              <a:lnSpc>
                <a:spcPts val="4999"/>
              </a:lnSpc>
            </a:pPr>
          </a:p>
          <a:p>
            <a:pPr algn="ctr">
              <a:lnSpc>
                <a:spcPts val="5999"/>
              </a:lnSpc>
            </a:pPr>
            <a:r>
              <a:rPr lang="en-US" sz="4799" b="true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Orang yang diperintahkan oleh khalifah Uṡman untuk mengumpulkan musḥaf Al-Qur’an adalah Zaid bin Ṡabit, dan dibantu oleh Abdullah bin Zubair, Said bin Aṣ, Abdur Rahman bin Haris bin Hisyam.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244655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006" y="713029"/>
            <a:ext cx="15466046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Alasan dibukukannya al-qur’an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1472" y="2173559"/>
            <a:ext cx="15885114" cy="659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94" indent="-539747" lvl="1">
              <a:lnSpc>
                <a:spcPts val="6249"/>
              </a:lnSpc>
              <a:buFont typeface="Arial"/>
              <a:buChar char="•"/>
            </a:pPr>
            <a:r>
              <a:rPr lang="en-US" b="true" sz="49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Banyaknya penghafal Al-Qur’an yang gugur dalam medan perang. </a:t>
            </a:r>
          </a:p>
          <a:p>
            <a:pPr algn="l" marL="1079494" indent="-539747" lvl="1">
              <a:lnSpc>
                <a:spcPts val="6249"/>
              </a:lnSpc>
              <a:buFont typeface="Arial"/>
              <a:buChar char="•"/>
            </a:pPr>
            <a:r>
              <a:rPr lang="en-US" b="true" sz="49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Sulit memantau pembelajaran Al-Qur’an karena luasnya kekuasaan Islam, sementara banyak penghafal Al-Qur’an tersebar di beberapa wilayah yang berjauhan. </a:t>
            </a:r>
          </a:p>
          <a:p>
            <a:pPr algn="l" marL="1209031" indent="-604515" lvl="1">
              <a:lnSpc>
                <a:spcPts val="6999"/>
              </a:lnSpc>
              <a:buFont typeface="Arial"/>
              <a:buChar char="•"/>
            </a:pPr>
            <a:r>
              <a:rPr lang="en-US" b="true" sz="55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Agar ada acuan atau pedoman yang menyatukan qiraat (bacaan) umat Islam yang berbeda-beda dialeknya dalam membaca Al-Qur’an.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7121" y="65312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2"/>
                </a:lnTo>
                <a:lnTo>
                  <a:pt x="0" y="89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33945" y="-439566"/>
            <a:ext cx="7576045" cy="6051366"/>
          </a:xfrm>
          <a:custGeom>
            <a:avLst/>
            <a:gdLst/>
            <a:ahLst/>
            <a:cxnLst/>
            <a:rect r="r" b="b" t="t" l="l"/>
            <a:pathLst>
              <a:path h="6051366" w="7576045">
                <a:moveTo>
                  <a:pt x="0" y="0"/>
                </a:moveTo>
                <a:lnTo>
                  <a:pt x="7576045" y="0"/>
                </a:lnTo>
                <a:lnTo>
                  <a:pt x="7576045" y="6051366"/>
                </a:lnTo>
                <a:lnTo>
                  <a:pt x="0" y="605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12315" y="470555"/>
            <a:ext cx="9746985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95405" indent="-647702" lvl="1">
              <a:lnSpc>
                <a:spcPts val="6720"/>
              </a:lnSpc>
              <a:buAutoNum type="arabicPeriod" startAt="1"/>
            </a:pPr>
            <a:r>
              <a:rPr lang="en-US" sz="6000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Membentuk angkatan laut yang kuat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42100" y="3154646"/>
            <a:ext cx="9746985" cy="511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63" indent="-485781" lvl="1">
              <a:lnSpc>
                <a:spcPts val="5040"/>
              </a:lnSpc>
              <a:buFont typeface="Arial"/>
              <a:buChar char="•"/>
            </a:pPr>
            <a:r>
              <a:rPr lang="en-US" sz="4500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diusulkan oleh Muawiyah bin Abi Sufyan Sebagai Gubernur Damaskus</a:t>
            </a:r>
          </a:p>
          <a:p>
            <a:pPr algn="l" marL="971563" indent="-485781" lvl="1">
              <a:lnSpc>
                <a:spcPts val="5040"/>
              </a:lnSpc>
              <a:buFont typeface="Arial"/>
              <a:buChar char="•"/>
            </a:pPr>
            <a:r>
              <a:rPr lang="en-US" sz="4500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Tujuannya adalah untuk menjaga keamanan wilayah kekuasaan Islam dari pasukan musuh, terutama dari Romawi yang ingin menguasai Iskandariyah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244655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06473" y="6966174"/>
            <a:ext cx="4297106" cy="3648633"/>
          </a:xfrm>
          <a:custGeom>
            <a:avLst/>
            <a:gdLst/>
            <a:ahLst/>
            <a:cxnLst/>
            <a:rect r="r" b="b" t="t" l="l"/>
            <a:pathLst>
              <a:path h="3648633" w="4297106">
                <a:moveTo>
                  <a:pt x="0" y="0"/>
                </a:moveTo>
                <a:lnTo>
                  <a:pt x="4297106" y="0"/>
                </a:lnTo>
                <a:lnTo>
                  <a:pt x="4297106" y="3648633"/>
                </a:lnTo>
                <a:lnTo>
                  <a:pt x="0" y="3648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343319" y="6966174"/>
            <a:ext cx="4297106" cy="3648633"/>
          </a:xfrm>
          <a:custGeom>
            <a:avLst/>
            <a:gdLst/>
            <a:ahLst/>
            <a:cxnLst/>
            <a:rect r="r" b="b" t="t" l="l"/>
            <a:pathLst>
              <a:path h="3648633" w="4297106">
                <a:moveTo>
                  <a:pt x="4297106" y="0"/>
                </a:moveTo>
                <a:lnTo>
                  <a:pt x="0" y="0"/>
                </a:lnTo>
                <a:lnTo>
                  <a:pt x="0" y="3648633"/>
                </a:lnTo>
                <a:lnTo>
                  <a:pt x="4297106" y="3648633"/>
                </a:lnTo>
                <a:lnTo>
                  <a:pt x="42971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93399" y="-497843"/>
            <a:ext cx="4547026" cy="4009650"/>
          </a:xfrm>
          <a:custGeom>
            <a:avLst/>
            <a:gdLst/>
            <a:ahLst/>
            <a:cxnLst/>
            <a:rect r="r" b="b" t="t" l="l"/>
            <a:pathLst>
              <a:path h="4009650" w="4547026">
                <a:moveTo>
                  <a:pt x="0" y="0"/>
                </a:moveTo>
                <a:lnTo>
                  <a:pt x="4547026" y="0"/>
                </a:lnTo>
                <a:lnTo>
                  <a:pt x="4547026" y="4009650"/>
                </a:lnTo>
                <a:lnTo>
                  <a:pt x="0" y="4009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606473" y="-497843"/>
            <a:ext cx="5455359" cy="4810635"/>
          </a:xfrm>
          <a:custGeom>
            <a:avLst/>
            <a:gdLst/>
            <a:ahLst/>
            <a:cxnLst/>
            <a:rect r="r" b="b" t="t" l="l"/>
            <a:pathLst>
              <a:path h="4810635" w="5455359">
                <a:moveTo>
                  <a:pt x="5455359" y="0"/>
                </a:moveTo>
                <a:lnTo>
                  <a:pt x="0" y="0"/>
                </a:lnTo>
                <a:lnTo>
                  <a:pt x="0" y="4810635"/>
                </a:lnTo>
                <a:lnTo>
                  <a:pt x="5455359" y="4810635"/>
                </a:lnTo>
                <a:lnTo>
                  <a:pt x="545535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0948" y="244655"/>
            <a:ext cx="14806104" cy="9675216"/>
          </a:xfrm>
          <a:custGeom>
            <a:avLst/>
            <a:gdLst/>
            <a:ahLst/>
            <a:cxnLst/>
            <a:rect r="r" b="b" t="t" l="l"/>
            <a:pathLst>
              <a:path h="9675216" w="14806104">
                <a:moveTo>
                  <a:pt x="0" y="0"/>
                </a:moveTo>
                <a:lnTo>
                  <a:pt x="14806104" y="0"/>
                </a:lnTo>
                <a:lnTo>
                  <a:pt x="14806104" y="9675215"/>
                </a:lnTo>
                <a:lnTo>
                  <a:pt x="0" y="96752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52" t="0" r="-1352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244655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1443" y="225605"/>
            <a:ext cx="15885114" cy="958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099" b="true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4. Memperluas wilayah kekuasaan Islam. </a:t>
            </a:r>
          </a:p>
          <a:p>
            <a:pPr algn="l" marL="1101084" indent="-550542" lvl="1">
              <a:lnSpc>
                <a:spcPts val="6374"/>
              </a:lnSpc>
              <a:buFont typeface="Arial"/>
              <a:buChar char="•"/>
            </a:pPr>
            <a:r>
              <a:rPr lang="en-US" b="true" sz="50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 kekuasaan wilayah Islam semakin bertambah. </a:t>
            </a:r>
          </a:p>
          <a:p>
            <a:pPr algn="l" marL="1101084" indent="-550542" lvl="1">
              <a:lnSpc>
                <a:spcPts val="6374"/>
              </a:lnSpc>
              <a:buFont typeface="Arial"/>
              <a:buChar char="•"/>
            </a:pPr>
            <a:r>
              <a:rPr lang="en-US" b="true" sz="50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 Armenia, Afrika, Azerbaijan, dan Kepulauan Cypruz.</a:t>
            </a:r>
          </a:p>
          <a:p>
            <a:pPr algn="l" marL="1101084" indent="-550542" lvl="1">
              <a:lnSpc>
                <a:spcPts val="6374"/>
              </a:lnSpc>
              <a:buFont typeface="Arial"/>
              <a:buChar char="•"/>
            </a:pPr>
            <a:r>
              <a:rPr lang="en-US" b="true" sz="50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 Berdakwah di Armenia dipimpin oleh Salman bin Rabi’ah</a:t>
            </a:r>
          </a:p>
          <a:p>
            <a:pPr algn="l" marL="1101084" indent="-550542" lvl="1">
              <a:lnSpc>
                <a:spcPts val="6374"/>
              </a:lnSpc>
              <a:buFont typeface="Arial"/>
              <a:buChar char="•"/>
            </a:pPr>
            <a:r>
              <a:rPr lang="en-US" b="true" sz="50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Berdakwah ke Afrika (Tunisia), Tripoli (sekarang Libia) dipimpin oleh Abdullah bin Sa’ad. </a:t>
            </a:r>
          </a:p>
          <a:p>
            <a:pPr algn="l" marL="1101084" indent="-550542" lvl="1">
              <a:lnSpc>
                <a:spcPts val="6374"/>
              </a:lnSpc>
              <a:buFont typeface="Arial"/>
              <a:buChar char="•"/>
            </a:pPr>
            <a:r>
              <a:rPr lang="en-US" b="true" sz="50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Walid bin Uqbah memimpin dakwah ke wilayah Azerbaijan. </a:t>
            </a:r>
          </a:p>
          <a:p>
            <a:pPr algn="l" marL="1101084" indent="-550542" lvl="1">
              <a:lnSpc>
                <a:spcPts val="6374"/>
              </a:lnSpc>
              <a:buFont typeface="Arial"/>
              <a:buChar char="•"/>
            </a:pPr>
            <a:r>
              <a:rPr lang="en-US" b="true" sz="5099">
                <a:solidFill>
                  <a:srgbClr val="5B4330"/>
                </a:solidFill>
                <a:latin typeface="Boriboon Medium"/>
                <a:ea typeface="Boriboon Medium"/>
                <a:cs typeface="Boriboon Medium"/>
                <a:sym typeface="Boriboon Medium"/>
              </a:rPr>
              <a:t>Perluasan wilayah kekuasaan Islam di Kepulauan Cyprus, dipimpin oleh Muawiyah bin Abu Sofyan yang kemudian merambah hingga ke Konstatinopel, Turki, serta negeri Balkan (Yugoslavia dan Polandia).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244655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7768" y="3174365"/>
            <a:ext cx="16692464" cy="378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Time to game......</a:t>
            </a:r>
          </a:p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lets goooooooo!!!</a:t>
            </a:r>
          </a:p>
          <a:p>
            <a:pPr algn="ctr">
              <a:lnSpc>
                <a:spcPts val="7280"/>
              </a:lnSpc>
              <a:spcBef>
                <a:spcPct val="0"/>
              </a:spcBef>
            </a:pPr>
          </a:p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https://wayground.com/join?gc=32648614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2724969" cy="9827663"/>
          </a:xfrm>
          <a:custGeom>
            <a:avLst/>
            <a:gdLst/>
            <a:ahLst/>
            <a:cxnLst/>
            <a:rect r="r" b="b" t="t" l="l"/>
            <a:pathLst>
              <a:path h="9827663" w="12724969">
                <a:moveTo>
                  <a:pt x="0" y="0"/>
                </a:moveTo>
                <a:lnTo>
                  <a:pt x="12724969" y="0"/>
                </a:lnTo>
                <a:lnTo>
                  <a:pt x="12724969" y="9827663"/>
                </a:lnTo>
                <a:lnTo>
                  <a:pt x="0" y="9827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8550" y="102870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8550" y="2006756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8550" y="2984813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08550" y="3962869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08550" y="4940925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8550" y="5918982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8550" y="6897038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8550" y="7875094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08550" y="885315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85585" y="2852834"/>
            <a:ext cx="8716830" cy="47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2"/>
              </a:lnSpc>
            </a:pPr>
            <a:r>
              <a:rPr lang="en-US" sz="16466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DAG7lk22_WU</dc:identifier>
  <dcterms:modified xsi:type="dcterms:W3CDTF">2011-08-01T06:04:30Z</dcterms:modified>
  <cp:revision>1</cp:revision>
  <dc:title>Bismillaahirrohmaanirrahiim</dc:title>
</cp:coreProperties>
</file>