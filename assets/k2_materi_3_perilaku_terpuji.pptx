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Codec Pro" panose="020B0604020202020204" charset="0"/>
      <p:regular r:id="rId21"/>
    </p:embeddedFont>
    <p:embeddedFont>
      <p:font typeface="Codec Pro Bold" panose="020B0604020202020204" charset="0"/>
      <p:regular r:id="rId22"/>
    </p:embeddedFont>
    <p:embeddedFont>
      <p:font typeface="Codec Pro Ultra-Bold" panose="020B0604020202020204" charset="0"/>
      <p:regular r:id="rId23"/>
    </p:embeddedFont>
    <p:embeddedFont>
      <p:font typeface="Gatwick Ultra-Bold" panose="020B0604020202020204" charset="0"/>
      <p:regular r:id="rId24"/>
    </p:embeddedFont>
    <p:embeddedFont>
      <p:font typeface="Open Sans" panose="020B0606030504020204" pitchFamily="34" charset="0"/>
      <p:regular r:id="rId25"/>
      <p:bold r:id="rId26"/>
      <p:italic r:id="rId27"/>
      <p:boldItalic r:id="rId28"/>
    </p:embeddedFont>
    <p:embeddedFont>
      <p:font typeface="Open Sans Bold" panose="020B0806030504020204" pitchFamily="34"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97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2A9F1"/>
        </a:solidFill>
        <a:effectLst/>
      </p:bgPr>
    </p:bg>
    <p:spTree>
      <p:nvGrpSpPr>
        <p:cNvPr id="1" name=""/>
        <p:cNvGrpSpPr/>
        <p:nvPr/>
      </p:nvGrpSpPr>
      <p:grpSpPr>
        <a:xfrm>
          <a:off x="0" y="0"/>
          <a:ext cx="0" cy="0"/>
          <a:chOff x="0" y="0"/>
          <a:chExt cx="0" cy="0"/>
        </a:xfrm>
      </p:grpSpPr>
      <p:sp>
        <p:nvSpPr>
          <p:cNvPr id="2" name="Freeform 2"/>
          <p:cNvSpPr/>
          <p:nvPr/>
        </p:nvSpPr>
        <p:spPr>
          <a:xfrm>
            <a:off x="8267700" y="2149979"/>
            <a:ext cx="9451681" cy="5534663"/>
          </a:xfrm>
          <a:custGeom>
            <a:avLst/>
            <a:gdLst/>
            <a:ahLst/>
            <a:cxnLst/>
            <a:rect l="l" t="t" r="r" b="b"/>
            <a:pathLst>
              <a:path w="9451681" h="5534663">
                <a:moveTo>
                  <a:pt x="0" y="0"/>
                </a:moveTo>
                <a:lnTo>
                  <a:pt x="9451681" y="0"/>
                </a:lnTo>
                <a:lnTo>
                  <a:pt x="9451681" y="5534663"/>
                </a:lnTo>
                <a:lnTo>
                  <a:pt x="0" y="5534663"/>
                </a:lnTo>
                <a:lnTo>
                  <a:pt x="0" y="0"/>
                </a:lnTo>
                <a:close/>
              </a:path>
            </a:pathLst>
          </a:custGeom>
          <a:blipFill>
            <a:blip r:embed="rId2"/>
            <a:stretch>
              <a:fillRect l="-2109" r="-2109"/>
            </a:stretch>
          </a:blipFill>
        </p:spPr>
      </p:sp>
      <p:sp>
        <p:nvSpPr>
          <p:cNvPr id="3" name="TextBox 3"/>
          <p:cNvSpPr txBox="1"/>
          <p:nvPr/>
        </p:nvSpPr>
        <p:spPr>
          <a:xfrm>
            <a:off x="371475" y="2283964"/>
            <a:ext cx="7496175" cy="3476625"/>
          </a:xfrm>
          <a:prstGeom prst="rect">
            <a:avLst/>
          </a:prstGeom>
        </p:spPr>
        <p:txBody>
          <a:bodyPr lIns="0" tIns="0" rIns="0" bIns="0" rtlCol="0" anchor="t">
            <a:spAutoFit/>
          </a:bodyPr>
          <a:lstStyle/>
          <a:p>
            <a:pPr marL="0" lvl="0" indent="0" algn="ctr">
              <a:lnSpc>
                <a:spcPts val="8999"/>
              </a:lnSpc>
            </a:pPr>
            <a:r>
              <a:rPr lang="en-US" sz="7499" b="1" spc="-187">
                <a:solidFill>
                  <a:srgbClr val="000000"/>
                </a:solidFill>
                <a:latin typeface="Gatwick Ultra-Bold"/>
                <a:ea typeface="Gatwick Ultra-Bold"/>
                <a:cs typeface="Gatwick Ultra-Bold"/>
                <a:sym typeface="Gatwick Ultra-Bold"/>
              </a:rPr>
              <a:t>Ayo Berperilaku Terpuji</a:t>
            </a:r>
          </a:p>
        </p:txBody>
      </p:sp>
      <p:sp>
        <p:nvSpPr>
          <p:cNvPr id="4" name="TextBox 4"/>
          <p:cNvSpPr txBox="1"/>
          <p:nvPr/>
        </p:nvSpPr>
        <p:spPr>
          <a:xfrm>
            <a:off x="371475" y="672969"/>
            <a:ext cx="9096375" cy="523240"/>
          </a:xfrm>
          <a:prstGeom prst="rect">
            <a:avLst/>
          </a:prstGeom>
        </p:spPr>
        <p:txBody>
          <a:bodyPr lIns="0" tIns="0" rIns="0" bIns="0" rtlCol="0" anchor="t">
            <a:spAutoFit/>
          </a:bodyPr>
          <a:lstStyle/>
          <a:p>
            <a:pPr marL="0" lvl="0" indent="0" algn="ctr">
              <a:lnSpc>
                <a:spcPts val="3874"/>
              </a:lnSpc>
              <a:spcBef>
                <a:spcPct val="0"/>
              </a:spcBef>
            </a:pPr>
            <a:r>
              <a:rPr lang="en-US" sz="3099" b="1">
                <a:solidFill>
                  <a:srgbClr val="000000"/>
                </a:solidFill>
                <a:latin typeface="Codec Pro Ultra-Bold"/>
                <a:ea typeface="Codec Pro Ultra-Bold"/>
                <a:cs typeface="Codec Pro Ultra-Bold"/>
                <a:sym typeface="Codec Pro Ultra-Bold"/>
              </a:rPr>
              <a:t>PENDIDIKAN AGAMA ISLAM DAN BUDI PEKERTI</a:t>
            </a:r>
          </a:p>
        </p:txBody>
      </p:sp>
      <p:sp>
        <p:nvSpPr>
          <p:cNvPr id="5" name="TextBox 5"/>
          <p:cNvSpPr txBox="1"/>
          <p:nvPr/>
        </p:nvSpPr>
        <p:spPr>
          <a:xfrm>
            <a:off x="0" y="7627492"/>
            <a:ext cx="7496175" cy="477520"/>
          </a:xfrm>
          <a:prstGeom prst="rect">
            <a:avLst/>
          </a:prstGeom>
        </p:spPr>
        <p:txBody>
          <a:bodyPr lIns="0" tIns="0" rIns="0" bIns="0" rtlCol="0" anchor="t">
            <a:spAutoFit/>
          </a:bodyPr>
          <a:lstStyle/>
          <a:p>
            <a:pPr marL="0" lvl="0" indent="0" algn="ctr">
              <a:lnSpc>
                <a:spcPts val="3499"/>
              </a:lnSpc>
              <a:spcBef>
                <a:spcPct val="0"/>
              </a:spcBef>
            </a:pPr>
            <a:r>
              <a:rPr lang="en-US" sz="2799" b="1" dirty="0" err="1">
                <a:solidFill>
                  <a:srgbClr val="000000"/>
                </a:solidFill>
                <a:latin typeface="Codec Pro Ultra-Bold"/>
                <a:ea typeface="Codec Pro Ultra-Bold"/>
                <a:cs typeface="Codec Pro Ultra-Bold"/>
                <a:sym typeface="Codec Pro Ultra-Bold"/>
              </a:rPr>
              <a:t>Kelas</a:t>
            </a:r>
            <a:r>
              <a:rPr lang="en-US" sz="2799" b="1" dirty="0">
                <a:solidFill>
                  <a:srgbClr val="000000"/>
                </a:solidFill>
                <a:latin typeface="Codec Pro Ultra-Bold"/>
                <a:ea typeface="Codec Pro Ultra-Bold"/>
                <a:cs typeface="Codec Pro Ultra-Bold"/>
                <a:sym typeface="Codec Pro Ultra-Bold"/>
              </a:rPr>
              <a:t> 2 </a:t>
            </a:r>
            <a:r>
              <a:rPr lang="en-US" sz="2799" b="1" dirty="0" err="1">
                <a:solidFill>
                  <a:srgbClr val="000000"/>
                </a:solidFill>
                <a:latin typeface="Codec Pro Ultra-Bold"/>
                <a:ea typeface="Codec Pro Ultra-Bold"/>
                <a:cs typeface="Codec Pro Ultra-Bold"/>
                <a:sym typeface="Codec Pro Ultra-Bold"/>
              </a:rPr>
              <a:t>Semseter</a:t>
            </a:r>
            <a:r>
              <a:rPr lang="en-US" sz="2799" b="1" dirty="0">
                <a:solidFill>
                  <a:srgbClr val="000000"/>
                </a:solidFill>
                <a:latin typeface="Codec Pro Ultra-Bold"/>
                <a:ea typeface="Codec Pro Ultra-Bold"/>
                <a:cs typeface="Codec Pro Ultra-Bold"/>
                <a:sym typeface="Codec Pro Ultra-Bold"/>
              </a:rPr>
              <a:t> 1 Bab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A9F1"/>
        </a:solidFill>
        <a:effectLst/>
      </p:bgPr>
    </p:bg>
    <p:spTree>
      <p:nvGrpSpPr>
        <p:cNvPr id="1" name=""/>
        <p:cNvGrpSpPr/>
        <p:nvPr/>
      </p:nvGrpSpPr>
      <p:grpSpPr>
        <a:xfrm>
          <a:off x="0" y="0"/>
          <a:ext cx="0" cy="0"/>
          <a:chOff x="0" y="0"/>
          <a:chExt cx="0" cy="0"/>
        </a:xfrm>
      </p:grpSpPr>
      <p:sp>
        <p:nvSpPr>
          <p:cNvPr id="2" name="Freeform 2"/>
          <p:cNvSpPr/>
          <p:nvPr/>
        </p:nvSpPr>
        <p:spPr>
          <a:xfrm>
            <a:off x="3640622" y="0"/>
            <a:ext cx="11413973" cy="9993051"/>
          </a:xfrm>
          <a:custGeom>
            <a:avLst/>
            <a:gdLst/>
            <a:ahLst/>
            <a:cxnLst/>
            <a:rect l="l" t="t" r="r" b="b"/>
            <a:pathLst>
              <a:path w="11413973" h="9993051">
                <a:moveTo>
                  <a:pt x="0" y="0"/>
                </a:moveTo>
                <a:lnTo>
                  <a:pt x="11413974" y="0"/>
                </a:lnTo>
                <a:lnTo>
                  <a:pt x="11413974" y="9993051"/>
                </a:lnTo>
                <a:lnTo>
                  <a:pt x="0" y="9993051"/>
                </a:lnTo>
                <a:lnTo>
                  <a:pt x="0" y="0"/>
                </a:lnTo>
                <a:close/>
              </a:path>
            </a:pathLst>
          </a:custGeom>
          <a:blipFill>
            <a:blip r:embed="rId2"/>
            <a:stretch>
              <a:fillRect l="-57731" t="-21068" r="-58415" b="-17734"/>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E0E1"/>
        </a:solidFill>
        <a:effectLst/>
      </p:bgPr>
    </p:bg>
    <p:spTree>
      <p:nvGrpSpPr>
        <p:cNvPr id="1" name=""/>
        <p:cNvGrpSpPr/>
        <p:nvPr/>
      </p:nvGrpSpPr>
      <p:grpSpPr>
        <a:xfrm>
          <a:off x="0" y="0"/>
          <a:ext cx="0" cy="0"/>
          <a:chOff x="0" y="0"/>
          <a:chExt cx="0" cy="0"/>
        </a:xfrm>
      </p:grpSpPr>
      <p:sp>
        <p:nvSpPr>
          <p:cNvPr id="2" name="Freeform 2"/>
          <p:cNvSpPr/>
          <p:nvPr/>
        </p:nvSpPr>
        <p:spPr>
          <a:xfrm>
            <a:off x="3425912" y="0"/>
            <a:ext cx="10544924" cy="10125226"/>
          </a:xfrm>
          <a:custGeom>
            <a:avLst/>
            <a:gdLst/>
            <a:ahLst/>
            <a:cxnLst/>
            <a:rect l="l" t="t" r="r" b="b"/>
            <a:pathLst>
              <a:path w="10544924" h="10125226">
                <a:moveTo>
                  <a:pt x="0" y="0"/>
                </a:moveTo>
                <a:lnTo>
                  <a:pt x="10544924" y="0"/>
                </a:lnTo>
                <a:lnTo>
                  <a:pt x="10544924" y="10125226"/>
                </a:lnTo>
                <a:lnTo>
                  <a:pt x="0" y="10125226"/>
                </a:lnTo>
                <a:lnTo>
                  <a:pt x="0" y="0"/>
                </a:lnTo>
                <a:close/>
              </a:path>
            </a:pathLst>
          </a:custGeom>
          <a:blipFill>
            <a:blip r:embed="rId2"/>
            <a:stretch>
              <a:fillRect l="-58553" t="-19649" r="-62534" b="-9804"/>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F0F1"/>
        </a:solidFill>
        <a:effectLst/>
      </p:bgPr>
    </p:bg>
    <p:spTree>
      <p:nvGrpSpPr>
        <p:cNvPr id="1" name=""/>
        <p:cNvGrpSpPr/>
        <p:nvPr/>
      </p:nvGrpSpPr>
      <p:grpSpPr>
        <a:xfrm>
          <a:off x="0" y="0"/>
          <a:ext cx="0" cy="0"/>
          <a:chOff x="0" y="0"/>
          <a:chExt cx="0" cy="0"/>
        </a:xfrm>
      </p:grpSpPr>
      <p:sp>
        <p:nvSpPr>
          <p:cNvPr id="2" name="Freeform 2"/>
          <p:cNvSpPr/>
          <p:nvPr/>
        </p:nvSpPr>
        <p:spPr>
          <a:xfrm>
            <a:off x="714375" y="2638107"/>
            <a:ext cx="7560825" cy="5010785"/>
          </a:xfrm>
          <a:custGeom>
            <a:avLst/>
            <a:gdLst/>
            <a:ahLst/>
            <a:cxnLst/>
            <a:rect l="l" t="t" r="r" b="b"/>
            <a:pathLst>
              <a:path w="7560825" h="5010785">
                <a:moveTo>
                  <a:pt x="0" y="0"/>
                </a:moveTo>
                <a:lnTo>
                  <a:pt x="7560825" y="0"/>
                </a:lnTo>
                <a:lnTo>
                  <a:pt x="7560825" y="5010786"/>
                </a:lnTo>
                <a:lnTo>
                  <a:pt x="0" y="5010786"/>
                </a:lnTo>
                <a:lnTo>
                  <a:pt x="0" y="0"/>
                </a:lnTo>
                <a:close/>
              </a:path>
            </a:pathLst>
          </a:custGeom>
          <a:blipFill>
            <a:blip r:embed="rId2"/>
            <a:stretch>
              <a:fillRect b="-13022"/>
            </a:stretch>
          </a:blipFill>
        </p:spPr>
      </p:sp>
      <p:grpSp>
        <p:nvGrpSpPr>
          <p:cNvPr id="3" name="Group 3"/>
          <p:cNvGrpSpPr/>
          <p:nvPr/>
        </p:nvGrpSpPr>
        <p:grpSpPr>
          <a:xfrm>
            <a:off x="9144000" y="1800225"/>
            <a:ext cx="8115300" cy="5565098"/>
            <a:chOff x="0" y="0"/>
            <a:chExt cx="10820400" cy="7420130"/>
          </a:xfrm>
        </p:grpSpPr>
        <p:sp>
          <p:nvSpPr>
            <p:cNvPr id="4" name="TextBox 4"/>
            <p:cNvSpPr txBox="1"/>
            <p:nvPr/>
          </p:nvSpPr>
          <p:spPr>
            <a:xfrm>
              <a:off x="0" y="-76200"/>
              <a:ext cx="10820400" cy="5224495"/>
            </a:xfrm>
            <a:prstGeom prst="rect">
              <a:avLst/>
            </a:prstGeom>
          </p:spPr>
          <p:txBody>
            <a:bodyPr lIns="0" tIns="0" rIns="0" bIns="0" rtlCol="0" anchor="t">
              <a:spAutoFit/>
            </a:bodyPr>
            <a:lstStyle/>
            <a:p>
              <a:pPr marL="0" lvl="0" indent="0" algn="ctr">
                <a:lnSpc>
                  <a:spcPts val="7636"/>
                </a:lnSpc>
              </a:pPr>
              <a:r>
                <a:rPr lang="en-US" sz="6363" b="1" spc="-159">
                  <a:solidFill>
                    <a:srgbClr val="000000"/>
                  </a:solidFill>
                  <a:latin typeface="Gatwick Ultra-Bold"/>
                  <a:ea typeface="Gatwick Ultra-Bold"/>
                  <a:cs typeface="Gatwick Ultra-Bold"/>
                  <a:sym typeface="Gatwick Ultra-Bold"/>
                </a:rPr>
                <a:t>Memahami Berperilaku Terpuji: Apa Artinya?</a:t>
              </a:r>
            </a:p>
          </p:txBody>
        </p:sp>
        <p:sp>
          <p:nvSpPr>
            <p:cNvPr id="5" name="TextBox 5"/>
            <p:cNvSpPr txBox="1"/>
            <p:nvPr/>
          </p:nvSpPr>
          <p:spPr>
            <a:xfrm>
              <a:off x="0" y="5551007"/>
              <a:ext cx="10820400" cy="1869124"/>
            </a:xfrm>
            <a:prstGeom prst="rect">
              <a:avLst/>
            </a:prstGeom>
          </p:spPr>
          <p:txBody>
            <a:bodyPr lIns="0" tIns="0" rIns="0" bIns="0" rtlCol="0" anchor="t">
              <a:spAutoFit/>
            </a:bodyPr>
            <a:lstStyle/>
            <a:p>
              <a:pPr marL="0" lvl="0" indent="0" algn="ctr">
                <a:lnSpc>
                  <a:spcPts val="3676"/>
                </a:lnSpc>
              </a:pPr>
              <a:r>
                <a:rPr lang="en-US" sz="2828">
                  <a:solidFill>
                    <a:srgbClr val="000000"/>
                  </a:solidFill>
                  <a:latin typeface="Codec Pro"/>
                  <a:ea typeface="Codec Pro"/>
                  <a:cs typeface="Codec Pro"/>
                  <a:sym typeface="Codec Pro"/>
                </a:rPr>
                <a:t>Berperilaku terpuji berarti </a:t>
              </a:r>
              <a:r>
                <a:rPr lang="en-US" sz="2828" b="1">
                  <a:solidFill>
                    <a:srgbClr val="000000"/>
                  </a:solidFill>
                  <a:latin typeface="Codec Pro Bold"/>
                  <a:ea typeface="Codec Pro Bold"/>
                  <a:cs typeface="Codec Pro Bold"/>
                  <a:sym typeface="Codec Pro Bold"/>
                </a:rPr>
                <a:t>bersikap baik dan ramah</a:t>
              </a:r>
              <a:r>
                <a:rPr lang="en-US" sz="2828">
                  <a:solidFill>
                    <a:srgbClr val="000000"/>
                  </a:solidFill>
                  <a:latin typeface="Codec Pro"/>
                  <a:ea typeface="Codec Pro"/>
                  <a:cs typeface="Codec Pro"/>
                  <a:sym typeface="Codec Pro"/>
                </a:rPr>
                <a:t> kepada orang lain, serta menerapkan nilai-nilai positif dalam kehidupan sehari-hari.</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F0F1"/>
        </a:solidFill>
        <a:effectLst/>
      </p:bgPr>
    </p:bg>
    <p:spTree>
      <p:nvGrpSpPr>
        <p:cNvPr id="1" name=""/>
        <p:cNvGrpSpPr/>
        <p:nvPr/>
      </p:nvGrpSpPr>
      <p:grpSpPr>
        <a:xfrm>
          <a:off x="0" y="0"/>
          <a:ext cx="0" cy="0"/>
          <a:chOff x="0" y="0"/>
          <a:chExt cx="0" cy="0"/>
        </a:xfrm>
      </p:grpSpPr>
      <p:sp>
        <p:nvSpPr>
          <p:cNvPr id="2" name="TextBox 2"/>
          <p:cNvSpPr txBox="1"/>
          <p:nvPr/>
        </p:nvSpPr>
        <p:spPr>
          <a:xfrm>
            <a:off x="514350" y="3676650"/>
            <a:ext cx="5619750" cy="1504950"/>
          </a:xfrm>
          <a:prstGeom prst="rect">
            <a:avLst/>
          </a:prstGeom>
        </p:spPr>
        <p:txBody>
          <a:bodyPr lIns="0" tIns="0" rIns="0" bIns="0" rtlCol="0" anchor="t">
            <a:spAutoFit/>
          </a:bodyPr>
          <a:lstStyle/>
          <a:p>
            <a:pPr marL="0" lvl="0" indent="0" algn="ctr">
              <a:lnSpc>
                <a:spcPts val="5759"/>
              </a:lnSpc>
            </a:pPr>
            <a:r>
              <a:rPr lang="en-US" sz="4799" b="1" spc="-119">
                <a:solidFill>
                  <a:srgbClr val="000000"/>
                </a:solidFill>
                <a:latin typeface="Gatwick Ultra-Bold"/>
                <a:ea typeface="Gatwick Ultra-Bold"/>
                <a:cs typeface="Gatwick Ultra-Bold"/>
                <a:sym typeface="Gatwick Ultra-Bold"/>
              </a:rPr>
              <a:t>Pentingnya Perilaku Baik</a:t>
            </a:r>
          </a:p>
        </p:txBody>
      </p:sp>
      <p:grpSp>
        <p:nvGrpSpPr>
          <p:cNvPr id="3" name="Group 3"/>
          <p:cNvGrpSpPr/>
          <p:nvPr/>
        </p:nvGrpSpPr>
        <p:grpSpPr>
          <a:xfrm>
            <a:off x="6909150" y="1562100"/>
            <a:ext cx="9578625" cy="7162800"/>
            <a:chOff x="0" y="0"/>
            <a:chExt cx="2522765" cy="1886499"/>
          </a:xfrm>
        </p:grpSpPr>
        <p:sp>
          <p:nvSpPr>
            <p:cNvPr id="4" name="Freeform 4"/>
            <p:cNvSpPr/>
            <p:nvPr/>
          </p:nvSpPr>
          <p:spPr>
            <a:xfrm>
              <a:off x="0" y="0"/>
              <a:ext cx="2522765" cy="1886499"/>
            </a:xfrm>
            <a:custGeom>
              <a:avLst/>
              <a:gdLst/>
              <a:ahLst/>
              <a:cxnLst/>
              <a:rect l="l" t="t" r="r" b="b"/>
              <a:pathLst>
                <a:path w="2522765" h="1886499">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id="5" name="TextBox 5"/>
            <p:cNvSpPr txBox="1"/>
            <p:nvPr/>
          </p:nvSpPr>
          <p:spPr>
            <a:xfrm>
              <a:off x="0" y="-66675"/>
              <a:ext cx="2522765" cy="1953174"/>
            </a:xfrm>
            <a:prstGeom prst="rect">
              <a:avLst/>
            </a:prstGeom>
          </p:spPr>
          <p:txBody>
            <a:bodyPr lIns="127000" tIns="127000" rIns="127000" bIns="127000" rtlCol="0" anchor="ctr"/>
            <a:lstStyle/>
            <a:p>
              <a:pPr marL="0" lvl="0" indent="0" algn="ctr">
                <a:lnSpc>
                  <a:spcPts val="3120"/>
                </a:lnSpc>
              </a:pPr>
              <a:endParaRPr/>
            </a:p>
          </p:txBody>
        </p:sp>
      </p:grpSp>
      <p:sp>
        <p:nvSpPr>
          <p:cNvPr id="6" name="TextBox 6"/>
          <p:cNvSpPr txBox="1"/>
          <p:nvPr/>
        </p:nvSpPr>
        <p:spPr>
          <a:xfrm>
            <a:off x="7553325" y="2626042"/>
            <a:ext cx="8290275" cy="4861560"/>
          </a:xfrm>
          <a:prstGeom prst="rect">
            <a:avLst/>
          </a:prstGeom>
        </p:spPr>
        <p:txBody>
          <a:bodyPr lIns="0" tIns="0" rIns="0" bIns="0" rtlCol="0" anchor="t">
            <a:spAutoFit/>
          </a:bodyPr>
          <a:lstStyle/>
          <a:p>
            <a:pPr marL="0" lvl="0" indent="0" algn="ctr">
              <a:lnSpc>
                <a:spcPts val="3509"/>
              </a:lnSpc>
            </a:pPr>
            <a:r>
              <a:rPr lang="en-US" sz="2699">
                <a:solidFill>
                  <a:srgbClr val="000000"/>
                </a:solidFill>
                <a:latin typeface="Codec Pro"/>
                <a:ea typeface="Codec Pro"/>
                <a:cs typeface="Codec Pro"/>
                <a:sym typeface="Codec Pro"/>
              </a:rPr>
              <a:t>Perilaku baik sangat penting dalam kehidupan sehari-hari serta sebagai bagian dari </a:t>
            </a:r>
            <a:r>
              <a:rPr lang="en-US" sz="2699" b="1">
                <a:solidFill>
                  <a:srgbClr val="000000"/>
                </a:solidFill>
                <a:latin typeface="Codec Pro Bold"/>
                <a:ea typeface="Codec Pro Bold"/>
                <a:cs typeface="Codec Pro Bold"/>
                <a:sym typeface="Codec Pro Bold"/>
              </a:rPr>
              <a:t>Pendidikan Agama Islam</a:t>
            </a:r>
            <a:r>
              <a:rPr lang="en-US" sz="2699">
                <a:solidFill>
                  <a:srgbClr val="000000"/>
                </a:solidFill>
                <a:latin typeface="Codec Pro"/>
                <a:ea typeface="Codec Pro"/>
                <a:cs typeface="Codec Pro"/>
                <a:sym typeface="Codec Pro"/>
              </a:rPr>
              <a:t>. Dengan berperilaku terpuji, kita dapat menciptakan suasana yang harmonis di sekitar kita, baik di rumah, sekolah, maupun dalam masyarakat. Tindakan sayang kepada sesama, empati, bertutur kata lembut, dan jujur adalah fondasi yang membentuk karakter anak. Melalui penerapan nilai-nilai ini, kita dapat membangun hubungan yang lebih baik dan menjadi contoh yang baik bagi orang lain.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5734099" cy="3225431"/>
          </a:xfrm>
        </p:grpSpPr>
        <p:sp>
          <p:nvSpPr>
            <p:cNvPr id="3" name="Freeform 3"/>
            <p:cNvSpPr/>
            <p:nvPr/>
          </p:nvSpPr>
          <p:spPr>
            <a:xfrm>
              <a:off x="12700" y="12700"/>
              <a:ext cx="5669329" cy="3156851"/>
            </a:xfrm>
            <a:custGeom>
              <a:avLst/>
              <a:gdLst/>
              <a:ahLst/>
              <a:cxnLst/>
              <a:rect l="l" t="t" r="r" b="b"/>
              <a:pathLst>
                <a:path w="5669329" h="3156851">
                  <a:moveTo>
                    <a:pt x="146050" y="3156851"/>
                  </a:moveTo>
                  <a:lnTo>
                    <a:pt x="5523279" y="3156851"/>
                  </a:lnTo>
                  <a:cubicBezTo>
                    <a:pt x="5603289" y="3156851"/>
                    <a:pt x="5669329" y="3090811"/>
                    <a:pt x="5669329" y="3010801"/>
                  </a:cubicBezTo>
                  <a:lnTo>
                    <a:pt x="5669329" y="146050"/>
                  </a:lnTo>
                  <a:cubicBezTo>
                    <a:pt x="5669329" y="66040"/>
                    <a:pt x="5603289" y="0"/>
                    <a:pt x="5523279" y="0"/>
                  </a:cubicBezTo>
                  <a:lnTo>
                    <a:pt x="146050" y="0"/>
                  </a:lnTo>
                  <a:cubicBezTo>
                    <a:pt x="66040" y="0"/>
                    <a:pt x="0" y="66040"/>
                    <a:pt x="0" y="146050"/>
                  </a:cubicBezTo>
                  <a:lnTo>
                    <a:pt x="0" y="3010801"/>
                  </a:lnTo>
                  <a:cubicBezTo>
                    <a:pt x="0" y="3092081"/>
                    <a:pt x="66040" y="3156851"/>
                    <a:pt x="146050" y="3156851"/>
                  </a:cubicBezTo>
                  <a:close/>
                </a:path>
              </a:pathLst>
            </a:custGeom>
            <a:solidFill>
              <a:srgbClr val="E2A9F1"/>
            </a:solidFill>
          </p:spPr>
        </p:sp>
        <p:sp>
          <p:nvSpPr>
            <p:cNvPr id="4" name="Freeform 4"/>
            <p:cNvSpPr/>
            <p:nvPr/>
          </p:nvSpPr>
          <p:spPr>
            <a:xfrm>
              <a:off x="0" y="0"/>
              <a:ext cx="5734099" cy="3225431"/>
            </a:xfrm>
            <a:custGeom>
              <a:avLst/>
              <a:gdLst/>
              <a:ahLst/>
              <a:cxnLst/>
              <a:rect l="l" t="t" r="r" b="b"/>
              <a:pathLst>
                <a:path w="5734099" h="3225431">
                  <a:moveTo>
                    <a:pt x="5670599" y="74930"/>
                  </a:moveTo>
                  <a:cubicBezTo>
                    <a:pt x="5642659" y="30480"/>
                    <a:pt x="5593129" y="0"/>
                    <a:pt x="5535979" y="0"/>
                  </a:cubicBezTo>
                  <a:lnTo>
                    <a:pt x="158750" y="0"/>
                  </a:lnTo>
                  <a:cubicBezTo>
                    <a:pt x="71120" y="0"/>
                    <a:pt x="0" y="71120"/>
                    <a:pt x="0" y="158750"/>
                  </a:cubicBezTo>
                  <a:lnTo>
                    <a:pt x="0" y="3023501"/>
                  </a:lnTo>
                  <a:cubicBezTo>
                    <a:pt x="0" y="3075571"/>
                    <a:pt x="25400" y="3121291"/>
                    <a:pt x="63500" y="3150501"/>
                  </a:cubicBezTo>
                  <a:cubicBezTo>
                    <a:pt x="91440" y="3194951"/>
                    <a:pt x="140970" y="3225431"/>
                    <a:pt x="216920" y="3225431"/>
                  </a:cubicBezTo>
                  <a:lnTo>
                    <a:pt x="5575349" y="3225431"/>
                  </a:lnTo>
                  <a:cubicBezTo>
                    <a:pt x="5662979" y="3225431"/>
                    <a:pt x="5734099" y="3154311"/>
                    <a:pt x="5734099" y="3066681"/>
                  </a:cubicBezTo>
                  <a:lnTo>
                    <a:pt x="5734099" y="209949"/>
                  </a:lnTo>
                  <a:cubicBezTo>
                    <a:pt x="5734099" y="149860"/>
                    <a:pt x="5708699" y="104140"/>
                    <a:pt x="5670599" y="74930"/>
                  </a:cubicBezTo>
                  <a:close/>
                  <a:moveTo>
                    <a:pt x="12700" y="3023501"/>
                  </a:moveTo>
                  <a:lnTo>
                    <a:pt x="12700" y="158750"/>
                  </a:lnTo>
                  <a:cubicBezTo>
                    <a:pt x="12700" y="78740"/>
                    <a:pt x="78740" y="12700"/>
                    <a:pt x="158750" y="12700"/>
                  </a:cubicBezTo>
                  <a:lnTo>
                    <a:pt x="5535979" y="12700"/>
                  </a:lnTo>
                  <a:cubicBezTo>
                    <a:pt x="5615989" y="12700"/>
                    <a:pt x="5682029" y="78740"/>
                    <a:pt x="5682029" y="158750"/>
                  </a:cubicBezTo>
                  <a:lnTo>
                    <a:pt x="5682029" y="3023501"/>
                  </a:lnTo>
                  <a:cubicBezTo>
                    <a:pt x="5682029" y="3103511"/>
                    <a:pt x="5615989" y="3169551"/>
                    <a:pt x="5535979" y="3169551"/>
                  </a:cubicBezTo>
                  <a:lnTo>
                    <a:pt x="158750" y="3169551"/>
                  </a:lnTo>
                  <a:cubicBezTo>
                    <a:pt x="78740" y="3169551"/>
                    <a:pt x="12700" y="3104781"/>
                    <a:pt x="12700" y="3023501"/>
                  </a:cubicBezTo>
                  <a:close/>
                </a:path>
              </a:pathLst>
            </a:custGeom>
            <a:solidFill>
              <a:srgbClr val="3498DB"/>
            </a:solidFill>
          </p:spPr>
        </p:sp>
      </p:grpSp>
      <p:sp>
        <p:nvSpPr>
          <p:cNvPr id="5" name="Freeform 5"/>
          <p:cNvSpPr/>
          <p:nvPr/>
        </p:nvSpPr>
        <p:spPr>
          <a:xfrm>
            <a:off x="1028700" y="3209046"/>
            <a:ext cx="4471530" cy="3169143"/>
          </a:xfrm>
          <a:custGeom>
            <a:avLst/>
            <a:gdLst/>
            <a:ahLst/>
            <a:cxnLst/>
            <a:rect l="l" t="t" r="r" b="b"/>
            <a:pathLst>
              <a:path w="4471530" h="3169143">
                <a:moveTo>
                  <a:pt x="0" y="0"/>
                </a:moveTo>
                <a:lnTo>
                  <a:pt x="4471530" y="0"/>
                </a:lnTo>
                <a:lnTo>
                  <a:pt x="4471530" y="3169142"/>
                </a:lnTo>
                <a:lnTo>
                  <a:pt x="0" y="3169142"/>
                </a:lnTo>
                <a:lnTo>
                  <a:pt x="0" y="0"/>
                </a:lnTo>
                <a:close/>
              </a:path>
            </a:pathLst>
          </a:custGeom>
          <a:blipFill>
            <a:blip r:embed="rId2"/>
            <a:stretch>
              <a:fillRect l="-56553" t="-52054" r="-59168" b="-19072"/>
            </a:stretch>
          </a:blipFill>
        </p:spPr>
      </p:sp>
      <p:sp>
        <p:nvSpPr>
          <p:cNvPr id="6" name="Freeform 6"/>
          <p:cNvSpPr/>
          <p:nvPr/>
        </p:nvSpPr>
        <p:spPr>
          <a:xfrm>
            <a:off x="7121987" y="3096708"/>
            <a:ext cx="4119643" cy="3399502"/>
          </a:xfrm>
          <a:custGeom>
            <a:avLst/>
            <a:gdLst/>
            <a:ahLst/>
            <a:cxnLst/>
            <a:rect l="l" t="t" r="r" b="b"/>
            <a:pathLst>
              <a:path w="4119643" h="3399502">
                <a:moveTo>
                  <a:pt x="0" y="0"/>
                </a:moveTo>
                <a:lnTo>
                  <a:pt x="4119643" y="0"/>
                </a:lnTo>
                <a:lnTo>
                  <a:pt x="4119643" y="3399502"/>
                </a:lnTo>
                <a:lnTo>
                  <a:pt x="0" y="3399502"/>
                </a:lnTo>
                <a:lnTo>
                  <a:pt x="0" y="0"/>
                </a:lnTo>
                <a:close/>
              </a:path>
            </a:pathLst>
          </a:custGeom>
          <a:blipFill>
            <a:blip r:embed="rId3"/>
            <a:stretch>
              <a:fillRect l="-82826" t="-67773" r="-96662" b="-22649"/>
            </a:stretch>
          </a:blipFill>
        </p:spPr>
      </p:sp>
      <p:sp>
        <p:nvSpPr>
          <p:cNvPr id="7" name="Freeform 7"/>
          <p:cNvSpPr/>
          <p:nvPr/>
        </p:nvSpPr>
        <p:spPr>
          <a:xfrm>
            <a:off x="12863386" y="3096708"/>
            <a:ext cx="4395914" cy="3174827"/>
          </a:xfrm>
          <a:custGeom>
            <a:avLst/>
            <a:gdLst/>
            <a:ahLst/>
            <a:cxnLst/>
            <a:rect l="l" t="t" r="r" b="b"/>
            <a:pathLst>
              <a:path w="4395914" h="3174827">
                <a:moveTo>
                  <a:pt x="0" y="0"/>
                </a:moveTo>
                <a:lnTo>
                  <a:pt x="4395914" y="0"/>
                </a:lnTo>
                <a:lnTo>
                  <a:pt x="4395914" y="3174827"/>
                </a:lnTo>
                <a:lnTo>
                  <a:pt x="0" y="3174827"/>
                </a:lnTo>
                <a:lnTo>
                  <a:pt x="0" y="0"/>
                </a:lnTo>
                <a:close/>
              </a:path>
            </a:pathLst>
          </a:custGeom>
          <a:blipFill>
            <a:blip r:embed="rId4"/>
            <a:stretch>
              <a:fillRect l="-59441" t="-47498" r="-64996" b="-27218"/>
            </a:stretch>
          </a:blipFill>
        </p:spPr>
      </p:sp>
      <p:sp>
        <p:nvSpPr>
          <p:cNvPr id="8" name="TextBox 8"/>
          <p:cNvSpPr txBox="1"/>
          <p:nvPr/>
        </p:nvSpPr>
        <p:spPr>
          <a:xfrm>
            <a:off x="4029075" y="561975"/>
            <a:ext cx="11515725" cy="876300"/>
          </a:xfrm>
          <a:prstGeom prst="rect">
            <a:avLst/>
          </a:prstGeom>
        </p:spPr>
        <p:txBody>
          <a:bodyPr lIns="0" tIns="0" rIns="0" bIns="0" rtlCol="0" anchor="t">
            <a:spAutoFit/>
          </a:bodyPr>
          <a:lstStyle/>
          <a:p>
            <a:pPr marL="0" lvl="0" indent="0" algn="ctr">
              <a:lnSpc>
                <a:spcPts val="6480"/>
              </a:lnSpc>
            </a:pPr>
            <a:r>
              <a:rPr lang="en-US" sz="5400" b="1" spc="-135">
                <a:solidFill>
                  <a:srgbClr val="000000"/>
                </a:solidFill>
                <a:latin typeface="Gatwick Ultra-Bold"/>
                <a:ea typeface="Gatwick Ultra-Bold"/>
                <a:cs typeface="Gatwick Ultra-Bold"/>
                <a:sym typeface="Gatwick Ultra-Bold"/>
              </a:rPr>
              <a:t>Sayang kepada Sesama</a:t>
            </a:r>
          </a:p>
        </p:txBody>
      </p:sp>
      <p:sp>
        <p:nvSpPr>
          <p:cNvPr id="9" name="TextBox 9"/>
          <p:cNvSpPr txBox="1"/>
          <p:nvPr/>
        </p:nvSpPr>
        <p:spPr>
          <a:xfrm>
            <a:off x="514350" y="2019300"/>
            <a:ext cx="11515725" cy="666750"/>
          </a:xfrm>
          <a:prstGeom prst="rect">
            <a:avLst/>
          </a:prstGeom>
        </p:spPr>
        <p:txBody>
          <a:bodyPr lIns="0" tIns="0" rIns="0" bIns="0" rtlCol="0" anchor="t">
            <a:spAutoFit/>
          </a:bodyPr>
          <a:lstStyle/>
          <a:p>
            <a:pPr marL="0" lvl="0" indent="0" algn="ctr">
              <a:lnSpc>
                <a:spcPts val="4800"/>
              </a:lnSpc>
            </a:pPr>
            <a:r>
              <a:rPr lang="en-US" sz="4000" b="1" spc="-100">
                <a:solidFill>
                  <a:srgbClr val="000000"/>
                </a:solidFill>
                <a:latin typeface="Gatwick Ultra-Bold"/>
                <a:ea typeface="Gatwick Ultra-Bold"/>
                <a:cs typeface="Gatwick Ultra-Bold"/>
                <a:sym typeface="Gatwick Ultra-Bold"/>
              </a:rPr>
              <a:t>Perhatikan gambar dibawah ini!</a:t>
            </a:r>
          </a:p>
        </p:txBody>
      </p:sp>
      <p:sp>
        <p:nvSpPr>
          <p:cNvPr id="10" name="TextBox 10"/>
          <p:cNvSpPr txBox="1"/>
          <p:nvPr/>
        </p:nvSpPr>
        <p:spPr>
          <a:xfrm>
            <a:off x="1028700" y="6568371"/>
            <a:ext cx="4471530" cy="58039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Gambar 1</a:t>
            </a:r>
          </a:p>
        </p:txBody>
      </p:sp>
      <p:sp>
        <p:nvSpPr>
          <p:cNvPr id="11" name="TextBox 11"/>
          <p:cNvSpPr txBox="1"/>
          <p:nvPr/>
        </p:nvSpPr>
        <p:spPr>
          <a:xfrm>
            <a:off x="6946043" y="6568371"/>
            <a:ext cx="4471530" cy="58039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Gambar 2</a:t>
            </a:r>
          </a:p>
        </p:txBody>
      </p:sp>
      <p:sp>
        <p:nvSpPr>
          <p:cNvPr id="12" name="TextBox 12"/>
          <p:cNvSpPr txBox="1"/>
          <p:nvPr/>
        </p:nvSpPr>
        <p:spPr>
          <a:xfrm>
            <a:off x="12825578" y="6429535"/>
            <a:ext cx="4471530" cy="58039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Gambar 3</a:t>
            </a:r>
          </a:p>
        </p:txBody>
      </p:sp>
      <p:sp>
        <p:nvSpPr>
          <p:cNvPr id="13" name="TextBox 13"/>
          <p:cNvSpPr txBox="1"/>
          <p:nvPr/>
        </p:nvSpPr>
        <p:spPr>
          <a:xfrm>
            <a:off x="2944267" y="7967911"/>
            <a:ext cx="12600533" cy="1463157"/>
          </a:xfrm>
          <a:prstGeom prst="rect">
            <a:avLst/>
          </a:prstGeom>
        </p:spPr>
        <p:txBody>
          <a:bodyPr lIns="0" tIns="0" rIns="0" bIns="0" rtlCol="0" anchor="t">
            <a:spAutoFit/>
          </a:bodyPr>
          <a:lstStyle/>
          <a:p>
            <a:pPr algn="ctr">
              <a:lnSpc>
                <a:spcPts val="5880"/>
              </a:lnSpc>
            </a:pPr>
            <a:r>
              <a:rPr lang="en-US" sz="4200" b="1" dirty="0">
                <a:solidFill>
                  <a:srgbClr val="000000"/>
                </a:solidFill>
                <a:latin typeface="Open Sans Bold"/>
                <a:ea typeface="Open Sans Bold"/>
                <a:cs typeface="Open Sans Bold"/>
                <a:sym typeface="Open Sans Bold"/>
              </a:rPr>
              <a:t>Gambar </a:t>
            </a:r>
            <a:r>
              <a:rPr lang="en-US" sz="4200" b="1" dirty="0" err="1">
                <a:solidFill>
                  <a:srgbClr val="000000"/>
                </a:solidFill>
                <a:latin typeface="Open Sans Bold"/>
                <a:ea typeface="Open Sans Bold"/>
                <a:cs typeface="Open Sans Bold"/>
                <a:sym typeface="Open Sans Bold"/>
              </a:rPr>
              <a:t>manakah</a:t>
            </a:r>
            <a:r>
              <a:rPr lang="en-US" sz="4200" b="1" dirty="0">
                <a:solidFill>
                  <a:srgbClr val="000000"/>
                </a:solidFill>
                <a:latin typeface="Open Sans Bold"/>
                <a:ea typeface="Open Sans Bold"/>
                <a:cs typeface="Open Sans Bold"/>
                <a:sym typeface="Open Sans Bold"/>
              </a:rPr>
              <a:t> yang </a:t>
            </a:r>
            <a:r>
              <a:rPr lang="en-US" sz="4200" b="1" dirty="0" err="1">
                <a:solidFill>
                  <a:srgbClr val="000000"/>
                </a:solidFill>
                <a:latin typeface="Open Sans Bold"/>
                <a:ea typeface="Open Sans Bold"/>
                <a:cs typeface="Open Sans Bold"/>
                <a:sym typeface="Open Sans Bold"/>
              </a:rPr>
              <a:t>pernah</a:t>
            </a:r>
            <a:r>
              <a:rPr lang="en-US" sz="4200" b="1" dirty="0">
                <a:solidFill>
                  <a:srgbClr val="000000"/>
                </a:solidFill>
                <a:latin typeface="Open Sans Bold"/>
                <a:ea typeface="Open Sans Bold"/>
                <a:cs typeface="Open Sans Bold"/>
                <a:sym typeface="Open Sans Bold"/>
              </a:rPr>
              <a:t> kalian </a:t>
            </a:r>
            <a:r>
              <a:rPr lang="en-US" sz="4200" b="1" dirty="0" err="1">
                <a:solidFill>
                  <a:srgbClr val="000000"/>
                </a:solidFill>
                <a:latin typeface="Open Sans Bold"/>
                <a:ea typeface="Open Sans Bold"/>
                <a:cs typeface="Open Sans Bold"/>
                <a:sym typeface="Open Sans Bold"/>
              </a:rPr>
              <a:t>lakukan</a:t>
            </a:r>
            <a:r>
              <a:rPr lang="en-US" sz="4200" b="1" dirty="0">
                <a:solidFill>
                  <a:srgbClr val="000000"/>
                </a:solidFill>
                <a:latin typeface="Open Sans Bold"/>
                <a:ea typeface="Open Sans Bold"/>
                <a:cs typeface="Open Sans Bold"/>
                <a:sym typeface="Open Sans Bold"/>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2980B9"/>
            </a:solidFill>
          </p:spPr>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2A9F1"/>
            </a:solidFill>
          </p:spPr>
        </p:sp>
      </p:grpSp>
      <p:grpSp>
        <p:nvGrpSpPr>
          <p:cNvPr id="5" name="Group 5"/>
          <p:cNvGrpSpPr/>
          <p:nvPr/>
        </p:nvGrpSpPr>
        <p:grpSpPr>
          <a:xfrm>
            <a:off x="1800225"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8" name="Group 8"/>
          <p:cNvGrpSpPr/>
          <p:nvPr/>
        </p:nvGrpSpPr>
        <p:grpSpPr>
          <a:xfrm>
            <a:off x="6785238"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11" name="Group 11"/>
          <p:cNvGrpSpPr/>
          <p:nvPr/>
        </p:nvGrpSpPr>
        <p:grpSpPr>
          <a:xfrm>
            <a:off x="11770251" y="3764449"/>
            <a:ext cx="4717524" cy="4960451"/>
            <a:chOff x="0" y="0"/>
            <a:chExt cx="1242476" cy="1306456"/>
          </a:xfrm>
        </p:grpSpPr>
        <p:sp>
          <p:nvSpPr>
            <p:cNvPr id="12" name="Freeform 12"/>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13" name="TextBox 13"/>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sp>
        <p:nvSpPr>
          <p:cNvPr id="14" name="TextBox 14"/>
          <p:cNvSpPr txBox="1"/>
          <p:nvPr/>
        </p:nvSpPr>
        <p:spPr>
          <a:xfrm>
            <a:off x="2105025" y="1504950"/>
            <a:ext cx="13620750" cy="876300"/>
          </a:xfrm>
          <a:prstGeom prst="rect">
            <a:avLst/>
          </a:prstGeom>
        </p:spPr>
        <p:txBody>
          <a:bodyPr lIns="0" tIns="0" rIns="0" bIns="0" rtlCol="0" anchor="t">
            <a:spAutoFit/>
          </a:bodyPr>
          <a:lstStyle/>
          <a:p>
            <a:pPr marL="0" lvl="0" indent="0" algn="ctr">
              <a:lnSpc>
                <a:spcPts val="6480"/>
              </a:lnSpc>
            </a:pPr>
            <a:r>
              <a:rPr lang="en-US" sz="5400" b="1" spc="-135">
                <a:solidFill>
                  <a:srgbClr val="000000"/>
                </a:solidFill>
                <a:latin typeface="Gatwick Ultra-Bold"/>
                <a:ea typeface="Gatwick Ultra-Bold"/>
                <a:cs typeface="Gatwick Ultra-Bold"/>
                <a:sym typeface="Gatwick Ultra-Bold"/>
              </a:rPr>
              <a:t>Sayang Kepada Sesama</a:t>
            </a:r>
          </a:p>
        </p:txBody>
      </p:sp>
      <p:sp>
        <p:nvSpPr>
          <p:cNvPr id="15" name="TextBox 15"/>
          <p:cNvSpPr txBox="1"/>
          <p:nvPr/>
        </p:nvSpPr>
        <p:spPr>
          <a:xfrm>
            <a:off x="2105025" y="4621560"/>
            <a:ext cx="4107924" cy="3571131"/>
          </a:xfrm>
          <a:prstGeom prst="rect">
            <a:avLst/>
          </a:prstGeom>
        </p:spPr>
        <p:txBody>
          <a:bodyPr lIns="0" tIns="0" rIns="0" bIns="0" rtlCol="0" anchor="t">
            <a:spAutoFit/>
          </a:bodyPr>
          <a:lstStyle/>
          <a:p>
            <a:pPr algn="ctr">
              <a:lnSpc>
                <a:spcPts val="3976"/>
              </a:lnSpc>
            </a:pPr>
            <a:r>
              <a:rPr lang="en-US" sz="3058">
                <a:solidFill>
                  <a:srgbClr val="000000"/>
                </a:solidFill>
                <a:latin typeface="Codec Pro"/>
                <a:ea typeface="Codec Pro"/>
                <a:cs typeface="Codec Pro"/>
                <a:sym typeface="Codec Pro"/>
              </a:rPr>
              <a:t>Islam merupakan agama Rahmatan Lil ‘alamiin</a:t>
            </a:r>
          </a:p>
          <a:p>
            <a:pPr marL="0" lvl="0" indent="0" algn="ctr">
              <a:lnSpc>
                <a:spcPts val="3976"/>
              </a:lnSpc>
            </a:pPr>
            <a:r>
              <a:rPr lang="en-US" sz="3058">
                <a:solidFill>
                  <a:srgbClr val="000000"/>
                </a:solidFill>
                <a:latin typeface="Codec Pro"/>
                <a:ea typeface="Codec Pro"/>
                <a:cs typeface="Codec Pro"/>
                <a:sym typeface="Codec Pro"/>
              </a:rPr>
              <a:t>Yaitu agama yang mengajarkan kasih sayang kepada sesama manusia </a:t>
            </a:r>
          </a:p>
        </p:txBody>
      </p:sp>
      <p:sp>
        <p:nvSpPr>
          <p:cNvPr id="16" name="TextBox 16"/>
          <p:cNvSpPr txBox="1"/>
          <p:nvPr/>
        </p:nvSpPr>
        <p:spPr>
          <a:xfrm>
            <a:off x="7187937" y="4612035"/>
            <a:ext cx="4010025" cy="3382645"/>
          </a:xfrm>
          <a:prstGeom prst="rect">
            <a:avLst/>
          </a:prstGeom>
        </p:spPr>
        <p:txBody>
          <a:bodyPr lIns="0" tIns="0" rIns="0" bIns="0" rtlCol="0" anchor="t">
            <a:spAutoFit/>
          </a:bodyPr>
          <a:lstStyle/>
          <a:p>
            <a:pPr algn="ctr">
              <a:lnSpc>
                <a:spcPts val="3769"/>
              </a:lnSpc>
            </a:pPr>
            <a:r>
              <a:rPr lang="en-US" sz="2899">
                <a:solidFill>
                  <a:srgbClr val="000000"/>
                </a:solidFill>
                <a:latin typeface="Codec Pro"/>
                <a:ea typeface="Codec Pro"/>
                <a:cs typeface="Codec Pro"/>
                <a:sym typeface="Codec Pro"/>
              </a:rPr>
              <a:t>Menyayangi sesama  merupakan perilaku terpuji.</a:t>
            </a:r>
          </a:p>
          <a:p>
            <a:pPr marL="0" lvl="0" indent="0" algn="ctr">
              <a:lnSpc>
                <a:spcPts val="3769"/>
              </a:lnSpc>
            </a:pPr>
            <a:r>
              <a:rPr lang="en-US" sz="2899">
                <a:solidFill>
                  <a:srgbClr val="000000"/>
                </a:solidFill>
                <a:latin typeface="Codec Pro"/>
                <a:ea typeface="Codec Pro"/>
                <a:cs typeface="Codec Pro"/>
                <a:sym typeface="Codec Pro"/>
              </a:rPr>
              <a:t>Contohnya sayang kepada keluarga, guru, teman, dan orang lain.</a:t>
            </a:r>
          </a:p>
        </p:txBody>
      </p:sp>
      <p:sp>
        <p:nvSpPr>
          <p:cNvPr id="17" name="TextBox 17"/>
          <p:cNvSpPr txBox="1"/>
          <p:nvPr/>
        </p:nvSpPr>
        <p:spPr>
          <a:xfrm>
            <a:off x="12074262" y="4192935"/>
            <a:ext cx="4108713" cy="4036804"/>
          </a:xfrm>
          <a:prstGeom prst="rect">
            <a:avLst/>
          </a:prstGeom>
        </p:spPr>
        <p:txBody>
          <a:bodyPr lIns="0" tIns="0" rIns="0" bIns="0" rtlCol="0" anchor="t">
            <a:spAutoFit/>
          </a:bodyPr>
          <a:lstStyle/>
          <a:p>
            <a:pPr algn="ctr">
              <a:lnSpc>
                <a:spcPts val="3196"/>
              </a:lnSpc>
            </a:pPr>
            <a:r>
              <a:rPr lang="en-US" sz="2459">
                <a:solidFill>
                  <a:srgbClr val="000000"/>
                </a:solidFill>
                <a:latin typeface="Codec Pro"/>
                <a:ea typeface="Codec Pro"/>
                <a:cs typeface="Codec Pro"/>
                <a:sym typeface="Codec Pro"/>
              </a:rPr>
              <a:t>Contoh perilaku sayang sesama:</a:t>
            </a:r>
          </a:p>
          <a:p>
            <a:pPr algn="ctr">
              <a:lnSpc>
                <a:spcPts val="3196"/>
              </a:lnSpc>
            </a:pPr>
            <a:r>
              <a:rPr lang="en-US" sz="2459">
                <a:solidFill>
                  <a:srgbClr val="000000"/>
                </a:solidFill>
                <a:latin typeface="Codec Pro"/>
                <a:ea typeface="Codec Pro"/>
                <a:cs typeface="Codec Pro"/>
                <a:sym typeface="Codec Pro"/>
              </a:rPr>
              <a:t>Saat di rumah kita senantiasa membantu Ibu.</a:t>
            </a:r>
          </a:p>
          <a:p>
            <a:pPr algn="ctr">
              <a:lnSpc>
                <a:spcPts val="3196"/>
              </a:lnSpc>
            </a:pPr>
            <a:r>
              <a:rPr lang="en-US" sz="2459">
                <a:solidFill>
                  <a:srgbClr val="000000"/>
                </a:solidFill>
                <a:latin typeface="Codec Pro"/>
                <a:ea typeface="Codec Pro"/>
                <a:cs typeface="Codec Pro"/>
                <a:sym typeface="Codec Pro"/>
              </a:rPr>
              <a:t>Saat di sekolah  kita mencium tangan guru sambil mengucapkan salam.</a:t>
            </a:r>
          </a:p>
          <a:p>
            <a:pPr marL="0" lvl="0" indent="0" algn="ctr">
              <a:lnSpc>
                <a:spcPts val="3196"/>
              </a:lnSpc>
            </a:pPr>
            <a:r>
              <a:rPr lang="en-US" sz="2459">
                <a:solidFill>
                  <a:srgbClr val="000000"/>
                </a:solidFill>
                <a:latin typeface="Codec Pro"/>
                <a:ea typeface="Codec Pro"/>
                <a:cs typeface="Codec Pro"/>
                <a:sym typeface="Codec Pro"/>
              </a:rPr>
              <a:t>Saat ada teman yang sakit kita menjenguknya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2980B9"/>
            </a:solidFill>
          </p:spPr>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2A9F1"/>
            </a:solidFill>
          </p:spPr>
        </p:sp>
      </p:grpSp>
      <p:sp>
        <p:nvSpPr>
          <p:cNvPr id="5" name="Freeform 5"/>
          <p:cNvSpPr/>
          <p:nvPr/>
        </p:nvSpPr>
        <p:spPr>
          <a:xfrm>
            <a:off x="1347788" y="3026881"/>
            <a:ext cx="15202971" cy="4556459"/>
          </a:xfrm>
          <a:custGeom>
            <a:avLst/>
            <a:gdLst/>
            <a:ahLst/>
            <a:cxnLst/>
            <a:rect l="l" t="t" r="r" b="b"/>
            <a:pathLst>
              <a:path w="15202971" h="4556459">
                <a:moveTo>
                  <a:pt x="0" y="0"/>
                </a:moveTo>
                <a:lnTo>
                  <a:pt x="15202970" y="0"/>
                </a:lnTo>
                <a:lnTo>
                  <a:pt x="15202970" y="4556458"/>
                </a:lnTo>
                <a:lnTo>
                  <a:pt x="0" y="4556458"/>
                </a:lnTo>
                <a:lnTo>
                  <a:pt x="0" y="0"/>
                </a:lnTo>
                <a:close/>
              </a:path>
            </a:pathLst>
          </a:custGeom>
          <a:blipFill>
            <a:blip r:embed="rId2"/>
            <a:stretch>
              <a:fillRect l="-24408" t="-61557" r="-33491" b="-134647"/>
            </a:stretch>
          </a:blipFill>
        </p:spPr>
      </p:sp>
      <p:sp>
        <p:nvSpPr>
          <p:cNvPr id="6" name="TextBox 6"/>
          <p:cNvSpPr txBox="1"/>
          <p:nvPr/>
        </p:nvSpPr>
        <p:spPr>
          <a:xfrm>
            <a:off x="1347788" y="971550"/>
            <a:ext cx="15592425" cy="876300"/>
          </a:xfrm>
          <a:prstGeom prst="rect">
            <a:avLst/>
          </a:prstGeom>
        </p:spPr>
        <p:txBody>
          <a:bodyPr lIns="0" tIns="0" rIns="0" bIns="0" rtlCol="0" anchor="t">
            <a:spAutoFit/>
          </a:bodyPr>
          <a:lstStyle/>
          <a:p>
            <a:pPr marL="0" lvl="0" indent="0" algn="ctr">
              <a:lnSpc>
                <a:spcPts val="6480"/>
              </a:lnSpc>
            </a:pPr>
            <a:r>
              <a:rPr lang="en-US" sz="5400" b="1" spc="-135">
                <a:solidFill>
                  <a:srgbClr val="000000"/>
                </a:solidFill>
                <a:latin typeface="Gatwick Ultra-Bold"/>
                <a:ea typeface="Gatwick Ultra-Bold"/>
                <a:cs typeface="Gatwick Ultra-Bold"/>
                <a:sym typeface="Gatwick Ultra-Bold"/>
              </a:rPr>
              <a:t>Mengapa kita harus sayang sesama?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2A9F1"/>
            </a:solidFill>
          </p:spPr>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980B9"/>
            </a:solidFill>
          </p:spPr>
        </p:sp>
      </p:grpSp>
      <p:sp>
        <p:nvSpPr>
          <p:cNvPr id="5" name="Freeform 5"/>
          <p:cNvSpPr/>
          <p:nvPr/>
        </p:nvSpPr>
        <p:spPr>
          <a:xfrm>
            <a:off x="10341392" y="1028700"/>
            <a:ext cx="4747127" cy="3777828"/>
          </a:xfrm>
          <a:custGeom>
            <a:avLst/>
            <a:gdLst/>
            <a:ahLst/>
            <a:cxnLst/>
            <a:rect l="l" t="t" r="r" b="b"/>
            <a:pathLst>
              <a:path w="4747127" h="3777828">
                <a:moveTo>
                  <a:pt x="0" y="0"/>
                </a:moveTo>
                <a:lnTo>
                  <a:pt x="4747127" y="0"/>
                </a:lnTo>
                <a:lnTo>
                  <a:pt x="4747127" y="3777828"/>
                </a:lnTo>
                <a:lnTo>
                  <a:pt x="0" y="3777828"/>
                </a:lnTo>
                <a:lnTo>
                  <a:pt x="0" y="0"/>
                </a:lnTo>
                <a:close/>
              </a:path>
            </a:pathLst>
          </a:custGeom>
          <a:blipFill>
            <a:blip r:embed="rId2"/>
            <a:stretch>
              <a:fillRect b="-67759"/>
            </a:stretch>
          </a:blipFill>
        </p:spPr>
      </p:sp>
      <p:sp>
        <p:nvSpPr>
          <p:cNvPr id="6" name="Freeform 6"/>
          <p:cNvSpPr/>
          <p:nvPr/>
        </p:nvSpPr>
        <p:spPr>
          <a:xfrm>
            <a:off x="1342106" y="4371975"/>
            <a:ext cx="6858000" cy="4057650"/>
          </a:xfrm>
          <a:custGeom>
            <a:avLst/>
            <a:gdLst/>
            <a:ahLst/>
            <a:cxnLst/>
            <a:rect l="l" t="t" r="r" b="b"/>
            <a:pathLst>
              <a:path w="6858000" h="4057650">
                <a:moveTo>
                  <a:pt x="0" y="0"/>
                </a:moveTo>
                <a:lnTo>
                  <a:pt x="6858000" y="0"/>
                </a:lnTo>
                <a:lnTo>
                  <a:pt x="6858000" y="4057650"/>
                </a:lnTo>
                <a:lnTo>
                  <a:pt x="0" y="4057650"/>
                </a:lnTo>
                <a:lnTo>
                  <a:pt x="0" y="0"/>
                </a:lnTo>
                <a:close/>
              </a:path>
            </a:pathLst>
          </a:custGeom>
          <a:blipFill>
            <a:blip r:embed="rId3"/>
            <a:stretch>
              <a:fillRect l="-46538" t="-55579" r="-38622" b="-20368"/>
            </a:stretch>
          </a:blipFill>
        </p:spPr>
      </p:sp>
      <p:sp>
        <p:nvSpPr>
          <p:cNvPr id="7" name="TextBox 7"/>
          <p:cNvSpPr txBox="1"/>
          <p:nvPr/>
        </p:nvSpPr>
        <p:spPr>
          <a:xfrm>
            <a:off x="1028700" y="942975"/>
            <a:ext cx="8742111" cy="1125589"/>
          </a:xfrm>
          <a:prstGeom prst="rect">
            <a:avLst/>
          </a:prstGeom>
        </p:spPr>
        <p:txBody>
          <a:bodyPr lIns="0" tIns="0" rIns="0" bIns="0" rtlCol="0" anchor="t">
            <a:spAutoFit/>
          </a:bodyPr>
          <a:lstStyle/>
          <a:p>
            <a:pPr marL="0" lvl="0" indent="0" algn="ctr">
              <a:lnSpc>
                <a:spcPts val="8225"/>
              </a:lnSpc>
            </a:pPr>
            <a:r>
              <a:rPr lang="en-US" sz="6854" b="1" spc="-171">
                <a:solidFill>
                  <a:srgbClr val="000000"/>
                </a:solidFill>
                <a:latin typeface="Gatwick Ultra-Bold"/>
                <a:ea typeface="Gatwick Ultra-Bold"/>
                <a:cs typeface="Gatwick Ultra-Bold"/>
                <a:sym typeface="Gatwick Ultra-Bold"/>
              </a:rPr>
              <a:t>Empati </a:t>
            </a:r>
          </a:p>
        </p:txBody>
      </p:sp>
      <p:sp>
        <p:nvSpPr>
          <p:cNvPr id="8" name="TextBox 8"/>
          <p:cNvSpPr txBox="1"/>
          <p:nvPr/>
        </p:nvSpPr>
        <p:spPr>
          <a:xfrm>
            <a:off x="1342106" y="2946189"/>
            <a:ext cx="8115300" cy="971550"/>
          </a:xfrm>
          <a:prstGeom prst="rect">
            <a:avLst/>
          </a:prstGeom>
        </p:spPr>
        <p:txBody>
          <a:bodyPr lIns="0" tIns="0" rIns="0" bIns="0" rtlCol="0" anchor="t">
            <a:spAutoFit/>
          </a:bodyPr>
          <a:lstStyle/>
          <a:p>
            <a:pPr marL="0" lvl="0" indent="0" algn="ctr">
              <a:lnSpc>
                <a:spcPts val="3720"/>
              </a:lnSpc>
            </a:pPr>
            <a:r>
              <a:rPr lang="en-US" sz="3100" b="1" spc="-77">
                <a:solidFill>
                  <a:srgbClr val="000000"/>
                </a:solidFill>
                <a:latin typeface="Gatwick Ultra-Bold"/>
                <a:ea typeface="Gatwick Ultra-Bold"/>
                <a:cs typeface="Gatwick Ultra-Bold"/>
                <a:sym typeface="Gatwick Ultra-Bold"/>
              </a:rPr>
              <a:t>Pernahkan kalian melihat hal pada gambar dibawah ini?</a:t>
            </a:r>
          </a:p>
        </p:txBody>
      </p:sp>
      <p:sp>
        <p:nvSpPr>
          <p:cNvPr id="9" name="TextBox 9"/>
          <p:cNvSpPr txBox="1"/>
          <p:nvPr/>
        </p:nvSpPr>
        <p:spPr>
          <a:xfrm>
            <a:off x="8885906" y="5895975"/>
            <a:ext cx="8115300" cy="504825"/>
          </a:xfrm>
          <a:prstGeom prst="rect">
            <a:avLst/>
          </a:prstGeom>
        </p:spPr>
        <p:txBody>
          <a:bodyPr lIns="0" tIns="0" rIns="0" bIns="0" rtlCol="0" anchor="t">
            <a:spAutoFit/>
          </a:bodyPr>
          <a:lstStyle/>
          <a:p>
            <a:pPr marL="0" lvl="0" indent="0" algn="ctr">
              <a:lnSpc>
                <a:spcPts val="3720"/>
              </a:lnSpc>
            </a:pPr>
            <a:r>
              <a:rPr lang="en-US" sz="3100" b="1" spc="-77">
                <a:solidFill>
                  <a:srgbClr val="000000"/>
                </a:solidFill>
                <a:latin typeface="Gatwick Ultra-Bold"/>
                <a:ea typeface="Gatwick Ultra-Bold"/>
                <a:cs typeface="Gatwick Ultra-Bold"/>
                <a:sym typeface="Gatwick Ultra-Bold"/>
              </a:rPr>
              <a:t>Apa yang kalian rasakan?</a:t>
            </a:r>
          </a:p>
        </p:txBody>
      </p:sp>
      <p:sp>
        <p:nvSpPr>
          <p:cNvPr id="10" name="TextBox 10"/>
          <p:cNvSpPr txBox="1"/>
          <p:nvPr/>
        </p:nvSpPr>
        <p:spPr>
          <a:xfrm>
            <a:off x="8885906" y="6705600"/>
            <a:ext cx="8115300" cy="1438275"/>
          </a:xfrm>
          <a:prstGeom prst="rect">
            <a:avLst/>
          </a:prstGeom>
        </p:spPr>
        <p:txBody>
          <a:bodyPr lIns="0" tIns="0" rIns="0" bIns="0" rtlCol="0" anchor="t">
            <a:spAutoFit/>
          </a:bodyPr>
          <a:lstStyle/>
          <a:p>
            <a:pPr marL="0" lvl="0" indent="0" algn="ctr">
              <a:lnSpc>
                <a:spcPts val="3720"/>
              </a:lnSpc>
            </a:pPr>
            <a:r>
              <a:rPr lang="en-US" sz="3100" b="1" spc="-77">
                <a:solidFill>
                  <a:srgbClr val="000000"/>
                </a:solidFill>
                <a:latin typeface="Gatwick Ultra-Bold"/>
                <a:ea typeface="Gatwick Ultra-Bold"/>
                <a:cs typeface="Gatwick Ultra-Bold"/>
                <a:sym typeface="Gatwick Ultra-Bold"/>
              </a:rPr>
              <a:t>Apa yang akan kalian lakukan ketika melihat teman yang bersedih?</a:t>
            </a:r>
          </a:p>
        </p:txBody>
      </p:sp>
      <p:sp>
        <p:nvSpPr>
          <p:cNvPr id="11" name="TextBox 11"/>
          <p:cNvSpPr txBox="1"/>
          <p:nvPr/>
        </p:nvSpPr>
        <p:spPr>
          <a:xfrm>
            <a:off x="8885906" y="8448675"/>
            <a:ext cx="8115300" cy="504825"/>
          </a:xfrm>
          <a:prstGeom prst="rect">
            <a:avLst/>
          </a:prstGeom>
        </p:spPr>
        <p:txBody>
          <a:bodyPr lIns="0" tIns="0" rIns="0" bIns="0" rtlCol="0" anchor="t">
            <a:spAutoFit/>
          </a:bodyPr>
          <a:lstStyle/>
          <a:p>
            <a:pPr marL="0" lvl="0" indent="0" algn="ctr">
              <a:lnSpc>
                <a:spcPts val="3720"/>
              </a:lnSpc>
            </a:pPr>
            <a:r>
              <a:rPr lang="en-US" sz="3100" b="1" spc="-77">
                <a:solidFill>
                  <a:srgbClr val="000000"/>
                </a:solidFill>
                <a:latin typeface="Gatwick Ultra-Bold"/>
                <a:ea typeface="Gatwick Ultra-Bold"/>
                <a:cs typeface="Gatwick Ultra-Bold"/>
                <a:sym typeface="Gatwick Ultra-Bold"/>
              </a:rPr>
              <a:t>Ikut bersedih?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DD8B"/>
        </a:solidFill>
        <a:effectLst/>
      </p:bgPr>
    </p:bg>
    <p:spTree>
      <p:nvGrpSpPr>
        <p:cNvPr id="1" name=""/>
        <p:cNvGrpSpPr/>
        <p:nvPr/>
      </p:nvGrpSpPr>
      <p:grpSpPr>
        <a:xfrm>
          <a:off x="0" y="0"/>
          <a:ext cx="0" cy="0"/>
          <a:chOff x="0" y="0"/>
          <a:chExt cx="0" cy="0"/>
        </a:xfrm>
      </p:grpSpPr>
      <p:grpSp>
        <p:nvGrpSpPr>
          <p:cNvPr id="2" name="Group 2"/>
          <p:cNvGrpSpPr/>
          <p:nvPr/>
        </p:nvGrpSpPr>
        <p:grpSpPr>
          <a:xfrm>
            <a:off x="1800225" y="3764449"/>
            <a:ext cx="4717524" cy="4960451"/>
            <a:chOff x="0" y="0"/>
            <a:chExt cx="1242476" cy="1306456"/>
          </a:xfrm>
        </p:grpSpPr>
        <p:sp>
          <p:nvSpPr>
            <p:cNvPr id="3" name="Freeform 3"/>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5" name="Group 5"/>
          <p:cNvGrpSpPr/>
          <p:nvPr/>
        </p:nvGrpSpPr>
        <p:grpSpPr>
          <a:xfrm>
            <a:off x="6785238"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8" name="Group 8"/>
          <p:cNvGrpSpPr/>
          <p:nvPr/>
        </p:nvGrpSpPr>
        <p:grpSpPr>
          <a:xfrm>
            <a:off x="11770251"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sp>
        <p:nvSpPr>
          <p:cNvPr id="11" name="TextBox 11"/>
          <p:cNvSpPr txBox="1"/>
          <p:nvPr/>
        </p:nvSpPr>
        <p:spPr>
          <a:xfrm>
            <a:off x="2105025" y="1504950"/>
            <a:ext cx="14077950" cy="1695450"/>
          </a:xfrm>
          <a:prstGeom prst="rect">
            <a:avLst/>
          </a:prstGeom>
        </p:spPr>
        <p:txBody>
          <a:bodyPr lIns="0" tIns="0" rIns="0" bIns="0" rtlCol="0" anchor="t">
            <a:spAutoFit/>
          </a:bodyPr>
          <a:lstStyle/>
          <a:p>
            <a:pPr marL="0" lvl="0" indent="0" algn="ctr">
              <a:lnSpc>
                <a:spcPts val="6480"/>
              </a:lnSpc>
            </a:pPr>
            <a:r>
              <a:rPr lang="en-US" sz="5400" b="1" spc="-135">
                <a:solidFill>
                  <a:srgbClr val="000000"/>
                </a:solidFill>
                <a:latin typeface="Gatwick Ultra-Bold"/>
                <a:ea typeface="Gatwick Ultra-Bold"/>
                <a:cs typeface="Gatwick Ultra-Bold"/>
                <a:sym typeface="Gatwick Ultra-Bold"/>
              </a:rPr>
              <a:t>Empati: Merasakan dan Memahami</a:t>
            </a:r>
          </a:p>
        </p:txBody>
      </p:sp>
      <p:sp>
        <p:nvSpPr>
          <p:cNvPr id="12" name="TextBox 12"/>
          <p:cNvSpPr txBox="1"/>
          <p:nvPr/>
        </p:nvSpPr>
        <p:spPr>
          <a:xfrm>
            <a:off x="2202924" y="4631085"/>
            <a:ext cx="4010025" cy="3160395"/>
          </a:xfrm>
          <a:prstGeom prst="rect">
            <a:avLst/>
          </a:prstGeom>
        </p:spPr>
        <p:txBody>
          <a:bodyPr lIns="0" tIns="0" rIns="0" bIns="0" rtlCol="0" anchor="t">
            <a:spAutoFit/>
          </a:bodyPr>
          <a:lstStyle/>
          <a:p>
            <a:pPr marL="0" lvl="0" indent="0" algn="ctr">
              <a:lnSpc>
                <a:spcPts val="3120"/>
              </a:lnSpc>
            </a:pPr>
            <a:r>
              <a:rPr lang="en-US" sz="2400" u="none" strike="noStrike">
                <a:solidFill>
                  <a:srgbClr val="000000"/>
                </a:solidFill>
                <a:latin typeface="Codec Pro"/>
                <a:ea typeface="Codec Pro"/>
                <a:cs typeface="Codec Pro"/>
                <a:sym typeface="Codec Pro"/>
              </a:rPr>
              <a:t>Empati adalah kemampuan untuk </a:t>
            </a:r>
            <a:r>
              <a:rPr lang="en-US" sz="2400" b="1" u="none" strike="noStrike">
                <a:solidFill>
                  <a:srgbClr val="000000"/>
                </a:solidFill>
                <a:latin typeface="Codec Pro Bold"/>
                <a:ea typeface="Codec Pro Bold"/>
                <a:cs typeface="Codec Pro Bold"/>
                <a:sym typeface="Codec Pro Bold"/>
              </a:rPr>
              <a:t>merasakan</a:t>
            </a:r>
            <a:r>
              <a:rPr lang="en-US" sz="2400" u="none" strike="noStrike">
                <a:solidFill>
                  <a:srgbClr val="000000"/>
                </a:solidFill>
                <a:latin typeface="Codec Pro"/>
                <a:ea typeface="Codec Pro"/>
                <a:cs typeface="Codec Pro"/>
                <a:sym typeface="Codec Pro"/>
              </a:rPr>
              <a:t> apa yang dirasakan oleh orang lain, seperti ketika kita </a:t>
            </a:r>
            <a:r>
              <a:rPr lang="en-US" sz="2400" b="1" u="none" strike="noStrike">
                <a:solidFill>
                  <a:srgbClr val="000000"/>
                </a:solidFill>
                <a:latin typeface="Codec Pro Bold"/>
                <a:ea typeface="Codec Pro Bold"/>
                <a:cs typeface="Codec Pro Bold"/>
                <a:sym typeface="Codec Pro Bold"/>
              </a:rPr>
              <a:t>menghibur teman</a:t>
            </a:r>
            <a:r>
              <a:rPr lang="en-US" sz="2400" u="none" strike="noStrike">
                <a:solidFill>
                  <a:srgbClr val="000000"/>
                </a:solidFill>
                <a:latin typeface="Codec Pro"/>
                <a:ea typeface="Codec Pro"/>
                <a:cs typeface="Codec Pro"/>
                <a:sym typeface="Codec Pro"/>
              </a:rPr>
              <a:t> yang sedih atau merayakan kebahagiaan mereka.</a:t>
            </a:r>
          </a:p>
        </p:txBody>
      </p:sp>
      <p:sp>
        <p:nvSpPr>
          <p:cNvPr id="13" name="TextBox 13"/>
          <p:cNvSpPr txBox="1"/>
          <p:nvPr/>
        </p:nvSpPr>
        <p:spPr>
          <a:xfrm>
            <a:off x="7187937" y="4631085"/>
            <a:ext cx="4010025" cy="3160395"/>
          </a:xfrm>
          <a:prstGeom prst="rect">
            <a:avLst/>
          </a:prstGeom>
        </p:spPr>
        <p:txBody>
          <a:bodyPr lIns="0" tIns="0" rIns="0" bIns="0" rtlCol="0" anchor="t">
            <a:spAutoFit/>
          </a:bodyPr>
          <a:lstStyle/>
          <a:p>
            <a:pPr marL="0" lvl="0" indent="0" algn="ctr">
              <a:lnSpc>
                <a:spcPts val="3120"/>
              </a:lnSpc>
            </a:pPr>
            <a:r>
              <a:rPr lang="en-US" sz="2400" u="none" strike="noStrike">
                <a:solidFill>
                  <a:srgbClr val="000000"/>
                </a:solidFill>
                <a:latin typeface="Codec Pro"/>
                <a:ea typeface="Codec Pro"/>
                <a:cs typeface="Codec Pro"/>
                <a:sym typeface="Codec Pro"/>
              </a:rPr>
              <a:t>Dengan berempati, kita belajar untuk </a:t>
            </a:r>
            <a:r>
              <a:rPr lang="en-US" sz="2400" b="1" u="none" strike="noStrike">
                <a:solidFill>
                  <a:srgbClr val="000000"/>
                </a:solidFill>
                <a:latin typeface="Codec Pro Bold"/>
                <a:ea typeface="Codec Pro Bold"/>
                <a:cs typeface="Codec Pro Bold"/>
                <a:sym typeface="Codec Pro Bold"/>
              </a:rPr>
              <a:t>menyadari</a:t>
            </a:r>
            <a:r>
              <a:rPr lang="en-US" sz="2400" u="none" strike="noStrike">
                <a:solidFill>
                  <a:srgbClr val="000000"/>
                </a:solidFill>
                <a:latin typeface="Codec Pro"/>
                <a:ea typeface="Codec Pro"/>
                <a:cs typeface="Codec Pro"/>
                <a:sym typeface="Codec Pro"/>
              </a:rPr>
              <a:t> ketika seseorang membutuhkan bantuan, dan kita dapat memberi dukungan yang mereka perlukan, membuat mereka merasa lebih baik.</a:t>
            </a:r>
          </a:p>
        </p:txBody>
      </p:sp>
      <p:sp>
        <p:nvSpPr>
          <p:cNvPr id="14" name="TextBox 14"/>
          <p:cNvSpPr txBox="1"/>
          <p:nvPr/>
        </p:nvSpPr>
        <p:spPr>
          <a:xfrm>
            <a:off x="12172950" y="4631085"/>
            <a:ext cx="4010025" cy="3160395"/>
          </a:xfrm>
          <a:prstGeom prst="rect">
            <a:avLst/>
          </a:prstGeom>
        </p:spPr>
        <p:txBody>
          <a:bodyPr lIns="0" tIns="0" rIns="0" bIns="0" rtlCol="0" anchor="t">
            <a:spAutoFit/>
          </a:bodyPr>
          <a:lstStyle/>
          <a:p>
            <a:pPr marL="0" lvl="0" indent="0" algn="ctr">
              <a:lnSpc>
                <a:spcPts val="3120"/>
              </a:lnSpc>
            </a:pPr>
            <a:r>
              <a:rPr lang="en-US" sz="2400" u="none" strike="noStrike">
                <a:solidFill>
                  <a:srgbClr val="000000"/>
                </a:solidFill>
                <a:latin typeface="Codec Pro"/>
                <a:ea typeface="Codec Pro"/>
                <a:cs typeface="Codec Pro"/>
                <a:sym typeface="Codec Pro"/>
              </a:rPr>
              <a:t>Mengembangkan empati juga menjadikan kita </a:t>
            </a:r>
            <a:r>
              <a:rPr lang="en-US" sz="2400" b="1" u="none" strike="noStrike">
                <a:solidFill>
                  <a:srgbClr val="000000"/>
                </a:solidFill>
                <a:latin typeface="Codec Pro Bold"/>
                <a:ea typeface="Codec Pro Bold"/>
                <a:cs typeface="Codec Pro Bold"/>
                <a:sym typeface="Codec Pro Bold"/>
              </a:rPr>
              <a:t>teman yang lebih baik</a:t>
            </a:r>
            <a:r>
              <a:rPr lang="en-US" sz="2400" u="none" strike="noStrike">
                <a:solidFill>
                  <a:srgbClr val="000000"/>
                </a:solidFill>
                <a:latin typeface="Codec Pro"/>
                <a:ea typeface="Codec Pro"/>
                <a:cs typeface="Codec Pro"/>
                <a:sym typeface="Codec Pro"/>
              </a:rPr>
              <a:t>, karena kita dapat berinteraksi lebih positif dan mendukung sesama, sesuai dengan nilai-nilai Islam.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CB768"/>
        </a:solidFill>
        <a:effectLst/>
      </p:bgPr>
    </p:bg>
    <p:spTree>
      <p:nvGrpSpPr>
        <p:cNvPr id="1" name=""/>
        <p:cNvGrpSpPr/>
        <p:nvPr/>
      </p:nvGrpSpPr>
      <p:grpSpPr>
        <a:xfrm>
          <a:off x="0" y="0"/>
          <a:ext cx="0" cy="0"/>
          <a:chOff x="0" y="0"/>
          <a:chExt cx="0" cy="0"/>
        </a:xfrm>
      </p:grpSpPr>
      <p:sp>
        <p:nvSpPr>
          <p:cNvPr id="2" name="Freeform 2"/>
          <p:cNvSpPr/>
          <p:nvPr/>
        </p:nvSpPr>
        <p:spPr>
          <a:xfrm>
            <a:off x="1295083" y="1943100"/>
            <a:ext cx="5810408" cy="3607422"/>
          </a:xfrm>
          <a:custGeom>
            <a:avLst/>
            <a:gdLst/>
            <a:ahLst/>
            <a:cxnLst/>
            <a:rect l="l" t="t" r="r" b="b"/>
            <a:pathLst>
              <a:path w="5810408" h="3607422">
                <a:moveTo>
                  <a:pt x="0" y="0"/>
                </a:moveTo>
                <a:lnTo>
                  <a:pt x="5810409" y="0"/>
                </a:lnTo>
                <a:lnTo>
                  <a:pt x="5810409" y="3607422"/>
                </a:lnTo>
                <a:lnTo>
                  <a:pt x="0" y="3607422"/>
                </a:lnTo>
                <a:lnTo>
                  <a:pt x="0" y="0"/>
                </a:lnTo>
                <a:close/>
              </a:path>
            </a:pathLst>
          </a:custGeom>
          <a:blipFill>
            <a:blip r:embed="rId2"/>
            <a:stretch>
              <a:fillRect l="-48694" t="-62508" r="-57996" b="-24664"/>
            </a:stretch>
          </a:blipFill>
        </p:spPr>
      </p:sp>
      <p:sp>
        <p:nvSpPr>
          <p:cNvPr id="3" name="Freeform 3"/>
          <p:cNvSpPr/>
          <p:nvPr/>
        </p:nvSpPr>
        <p:spPr>
          <a:xfrm>
            <a:off x="11714764" y="1943100"/>
            <a:ext cx="5715986" cy="3607422"/>
          </a:xfrm>
          <a:custGeom>
            <a:avLst/>
            <a:gdLst/>
            <a:ahLst/>
            <a:cxnLst/>
            <a:rect l="l" t="t" r="r" b="b"/>
            <a:pathLst>
              <a:path w="5715986" h="3607422">
                <a:moveTo>
                  <a:pt x="0" y="0"/>
                </a:moveTo>
                <a:lnTo>
                  <a:pt x="5715986" y="0"/>
                </a:lnTo>
                <a:lnTo>
                  <a:pt x="5715986" y="3607422"/>
                </a:lnTo>
                <a:lnTo>
                  <a:pt x="0" y="3607422"/>
                </a:lnTo>
                <a:lnTo>
                  <a:pt x="0" y="0"/>
                </a:lnTo>
                <a:close/>
              </a:path>
            </a:pathLst>
          </a:custGeom>
          <a:blipFill>
            <a:blip r:embed="rId3"/>
            <a:stretch>
              <a:fillRect l="-49641" t="-55579" r="-47863" b="-20368"/>
            </a:stretch>
          </a:blipFill>
        </p:spPr>
      </p:sp>
      <p:sp>
        <p:nvSpPr>
          <p:cNvPr id="4" name="Freeform 4"/>
          <p:cNvSpPr/>
          <p:nvPr/>
        </p:nvSpPr>
        <p:spPr>
          <a:xfrm>
            <a:off x="7578265" y="5934075"/>
            <a:ext cx="3960144" cy="4067175"/>
          </a:xfrm>
          <a:custGeom>
            <a:avLst/>
            <a:gdLst/>
            <a:ahLst/>
            <a:cxnLst/>
            <a:rect l="l" t="t" r="r" b="b"/>
            <a:pathLst>
              <a:path w="3960144" h="4067175">
                <a:moveTo>
                  <a:pt x="0" y="0"/>
                </a:moveTo>
                <a:lnTo>
                  <a:pt x="3960145" y="0"/>
                </a:lnTo>
                <a:lnTo>
                  <a:pt x="3960145" y="4067175"/>
                </a:lnTo>
                <a:lnTo>
                  <a:pt x="0" y="4067175"/>
                </a:lnTo>
                <a:lnTo>
                  <a:pt x="0" y="0"/>
                </a:lnTo>
                <a:close/>
              </a:path>
            </a:pathLst>
          </a:custGeom>
          <a:blipFill>
            <a:blip r:embed="rId4"/>
            <a:stretch>
              <a:fillRect/>
            </a:stretch>
          </a:blipFill>
        </p:spPr>
      </p:sp>
      <p:sp>
        <p:nvSpPr>
          <p:cNvPr id="5" name="TextBox 5"/>
          <p:cNvSpPr txBox="1"/>
          <p:nvPr/>
        </p:nvSpPr>
        <p:spPr>
          <a:xfrm>
            <a:off x="3497833" y="159703"/>
            <a:ext cx="12121009" cy="1566544"/>
          </a:xfrm>
          <a:prstGeom prst="rect">
            <a:avLst/>
          </a:prstGeom>
        </p:spPr>
        <p:txBody>
          <a:bodyPr lIns="0" tIns="0" rIns="0" bIns="0" rtlCol="0" anchor="t">
            <a:spAutoFit/>
          </a:bodyPr>
          <a:lstStyle/>
          <a:p>
            <a:pPr algn="ctr">
              <a:lnSpc>
                <a:spcPts val="12880"/>
              </a:lnSpc>
            </a:pPr>
            <a:r>
              <a:rPr lang="en-US" sz="9200" b="1">
                <a:solidFill>
                  <a:srgbClr val="000000"/>
                </a:solidFill>
                <a:latin typeface="Open Sans Bold"/>
                <a:ea typeface="Open Sans Bold"/>
                <a:cs typeface="Open Sans Bold"/>
                <a:sym typeface="Open Sans Bold"/>
              </a:rPr>
              <a:t>Contoh Sikap Empati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D1"/>
        </a:solidFill>
        <a:effectLst/>
      </p:bgPr>
    </p:bg>
    <p:spTree>
      <p:nvGrpSpPr>
        <p:cNvPr id="1" name=""/>
        <p:cNvGrpSpPr/>
        <p:nvPr/>
      </p:nvGrpSpPr>
      <p:grpSpPr>
        <a:xfrm>
          <a:off x="0" y="0"/>
          <a:ext cx="0" cy="0"/>
          <a:chOff x="0" y="0"/>
          <a:chExt cx="0" cy="0"/>
        </a:xfrm>
      </p:grpSpPr>
      <p:sp>
        <p:nvSpPr>
          <p:cNvPr id="2" name="Freeform 2"/>
          <p:cNvSpPr/>
          <p:nvPr/>
        </p:nvSpPr>
        <p:spPr>
          <a:xfrm>
            <a:off x="3165053" y="2125079"/>
            <a:ext cx="13548570" cy="7612574"/>
          </a:xfrm>
          <a:custGeom>
            <a:avLst/>
            <a:gdLst/>
            <a:ahLst/>
            <a:cxnLst/>
            <a:rect l="l" t="t" r="r" b="b"/>
            <a:pathLst>
              <a:path w="13548570" h="7612574">
                <a:moveTo>
                  <a:pt x="0" y="0"/>
                </a:moveTo>
                <a:lnTo>
                  <a:pt x="13548569" y="0"/>
                </a:lnTo>
                <a:lnTo>
                  <a:pt x="13548569" y="7612574"/>
                </a:lnTo>
                <a:lnTo>
                  <a:pt x="0" y="7612574"/>
                </a:lnTo>
                <a:lnTo>
                  <a:pt x="0" y="0"/>
                </a:lnTo>
                <a:close/>
              </a:path>
            </a:pathLst>
          </a:custGeom>
          <a:blipFill>
            <a:blip r:embed="rId2"/>
            <a:stretch>
              <a:fillRect/>
            </a:stretch>
          </a:blipFill>
        </p:spPr>
      </p:sp>
      <p:sp>
        <p:nvSpPr>
          <p:cNvPr id="3" name="TextBox 3"/>
          <p:cNvSpPr txBox="1"/>
          <p:nvPr/>
        </p:nvSpPr>
        <p:spPr>
          <a:xfrm>
            <a:off x="6181725" y="152400"/>
            <a:ext cx="6886575" cy="1695450"/>
          </a:xfrm>
          <a:prstGeom prst="rect">
            <a:avLst/>
          </a:prstGeom>
        </p:spPr>
        <p:txBody>
          <a:bodyPr lIns="0" tIns="0" rIns="0" bIns="0" rtlCol="0" anchor="t">
            <a:spAutoFit/>
          </a:bodyPr>
          <a:lstStyle/>
          <a:p>
            <a:pPr marL="0" lvl="0" indent="0" algn="ctr">
              <a:lnSpc>
                <a:spcPts val="6480"/>
              </a:lnSpc>
            </a:pPr>
            <a:r>
              <a:rPr lang="en-US" sz="5400" b="1" spc="-135">
                <a:solidFill>
                  <a:srgbClr val="2980B9"/>
                </a:solidFill>
                <a:latin typeface="Gatwick Ultra-Bold"/>
                <a:ea typeface="Gatwick Ultra-Bold"/>
                <a:cs typeface="Gatwick Ultra-Bold"/>
                <a:sym typeface="Gatwick Ultra-Bold"/>
              </a:rPr>
              <a:t>Bertutur Kata yang Lembut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D1"/>
        </a:solidFill>
        <a:effectLst/>
      </p:bgPr>
    </p:bg>
    <p:spTree>
      <p:nvGrpSpPr>
        <p:cNvPr id="1" name=""/>
        <p:cNvGrpSpPr/>
        <p:nvPr/>
      </p:nvGrpSpPr>
      <p:grpSpPr>
        <a:xfrm>
          <a:off x="0" y="0"/>
          <a:ext cx="0" cy="0"/>
          <a:chOff x="0" y="0"/>
          <a:chExt cx="0" cy="0"/>
        </a:xfrm>
      </p:grpSpPr>
      <p:grpSp>
        <p:nvGrpSpPr>
          <p:cNvPr id="2" name="Group 2"/>
          <p:cNvGrpSpPr/>
          <p:nvPr/>
        </p:nvGrpSpPr>
        <p:grpSpPr>
          <a:xfrm>
            <a:off x="1800225" y="3764449"/>
            <a:ext cx="4717524" cy="4960451"/>
            <a:chOff x="0" y="0"/>
            <a:chExt cx="1242476" cy="1306456"/>
          </a:xfrm>
        </p:grpSpPr>
        <p:sp>
          <p:nvSpPr>
            <p:cNvPr id="3" name="Freeform 3"/>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5" name="Group 5"/>
          <p:cNvGrpSpPr/>
          <p:nvPr/>
        </p:nvGrpSpPr>
        <p:grpSpPr>
          <a:xfrm>
            <a:off x="6785238"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8" name="Group 8"/>
          <p:cNvGrpSpPr/>
          <p:nvPr/>
        </p:nvGrpSpPr>
        <p:grpSpPr>
          <a:xfrm>
            <a:off x="11770251"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sp>
        <p:nvSpPr>
          <p:cNvPr id="11" name="TextBox 11"/>
          <p:cNvSpPr txBox="1"/>
          <p:nvPr/>
        </p:nvSpPr>
        <p:spPr>
          <a:xfrm>
            <a:off x="2202924" y="4602510"/>
            <a:ext cx="4010025" cy="3761740"/>
          </a:xfrm>
          <a:prstGeom prst="rect">
            <a:avLst/>
          </a:prstGeom>
        </p:spPr>
        <p:txBody>
          <a:bodyPr lIns="0" tIns="0" rIns="0" bIns="0" rtlCol="0" anchor="t">
            <a:spAutoFit/>
          </a:bodyPr>
          <a:lstStyle/>
          <a:p>
            <a:pPr marL="0" lvl="0" indent="0" algn="ctr">
              <a:lnSpc>
                <a:spcPts val="4939"/>
              </a:lnSpc>
            </a:pPr>
            <a:r>
              <a:rPr lang="en-US" sz="3799">
                <a:solidFill>
                  <a:srgbClr val="000000"/>
                </a:solidFill>
                <a:latin typeface="Codec Pro"/>
                <a:ea typeface="Codec Pro"/>
                <a:cs typeface="Codec Pro"/>
                <a:sym typeface="Codec Pro"/>
              </a:rPr>
              <a:t>Bertutur kata yang lembut adalah berkata yang baik, sopan, dan santun.</a:t>
            </a:r>
          </a:p>
        </p:txBody>
      </p:sp>
      <p:sp>
        <p:nvSpPr>
          <p:cNvPr id="12" name="TextBox 12"/>
          <p:cNvSpPr txBox="1"/>
          <p:nvPr/>
        </p:nvSpPr>
        <p:spPr>
          <a:xfrm>
            <a:off x="7187937" y="4602510"/>
            <a:ext cx="4010025" cy="3366770"/>
          </a:xfrm>
          <a:prstGeom prst="rect">
            <a:avLst/>
          </a:prstGeom>
        </p:spPr>
        <p:txBody>
          <a:bodyPr lIns="0" tIns="0" rIns="0" bIns="0" rtlCol="0" anchor="t">
            <a:spAutoFit/>
          </a:bodyPr>
          <a:lstStyle/>
          <a:p>
            <a:pPr marL="0" lvl="0" indent="0" algn="ctr">
              <a:lnSpc>
                <a:spcPts val="4419"/>
              </a:lnSpc>
            </a:pPr>
            <a:r>
              <a:rPr lang="en-US" sz="3399">
                <a:solidFill>
                  <a:srgbClr val="000000"/>
                </a:solidFill>
                <a:latin typeface="Codec Pro"/>
                <a:ea typeface="Codec Pro"/>
                <a:cs typeface="Codec Pro"/>
                <a:sym typeface="Codec Pro"/>
              </a:rPr>
              <a:t>Tidak boleh berkata kasar, meninggikan suara, dan berkata yang tidak sopan kepada siapapun.</a:t>
            </a:r>
          </a:p>
        </p:txBody>
      </p:sp>
      <p:sp>
        <p:nvSpPr>
          <p:cNvPr id="13" name="TextBox 13"/>
          <p:cNvSpPr txBox="1"/>
          <p:nvPr/>
        </p:nvSpPr>
        <p:spPr>
          <a:xfrm>
            <a:off x="12172950" y="4612035"/>
            <a:ext cx="4010025" cy="3188335"/>
          </a:xfrm>
          <a:prstGeom prst="rect">
            <a:avLst/>
          </a:prstGeom>
        </p:spPr>
        <p:txBody>
          <a:bodyPr lIns="0" tIns="0" rIns="0" bIns="0" rtlCol="0" anchor="t">
            <a:spAutoFit/>
          </a:bodyPr>
          <a:lstStyle/>
          <a:p>
            <a:pPr marL="0" lvl="0" indent="0" algn="ctr">
              <a:lnSpc>
                <a:spcPts val="4159"/>
              </a:lnSpc>
            </a:pPr>
            <a:r>
              <a:rPr lang="en-US" sz="3199">
                <a:solidFill>
                  <a:srgbClr val="000000"/>
                </a:solidFill>
                <a:latin typeface="Codec Pro"/>
                <a:ea typeface="Codec Pro"/>
                <a:cs typeface="Codec Pro"/>
                <a:sym typeface="Codec Pro"/>
              </a:rPr>
              <a:t>Dengan menjaga tutur kata kita telah menjalankan apa yang diperintahkan oleh Allah dan Rasul-Nya.</a:t>
            </a:r>
          </a:p>
        </p:txBody>
      </p:sp>
      <p:sp>
        <p:nvSpPr>
          <p:cNvPr id="14" name="TextBox 14"/>
          <p:cNvSpPr txBox="1"/>
          <p:nvPr/>
        </p:nvSpPr>
        <p:spPr>
          <a:xfrm>
            <a:off x="1800225" y="445453"/>
            <a:ext cx="14533513" cy="1566544"/>
          </a:xfrm>
          <a:prstGeom prst="rect">
            <a:avLst/>
          </a:prstGeom>
        </p:spPr>
        <p:txBody>
          <a:bodyPr lIns="0" tIns="0" rIns="0" bIns="0" rtlCol="0" anchor="t">
            <a:spAutoFit/>
          </a:bodyPr>
          <a:lstStyle/>
          <a:p>
            <a:pPr algn="ctr">
              <a:lnSpc>
                <a:spcPts val="12880"/>
              </a:lnSpc>
            </a:pPr>
            <a:r>
              <a:rPr lang="en-US" sz="9200" b="1">
                <a:solidFill>
                  <a:srgbClr val="000000"/>
                </a:solidFill>
                <a:latin typeface="Open Sans Bold"/>
                <a:ea typeface="Open Sans Bold"/>
                <a:cs typeface="Open Sans Bold"/>
                <a:sym typeface="Open Sans Bold"/>
              </a:rPr>
              <a:t>BERTUTUR KATA LEMBUT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1270600" y="1028700"/>
            <a:ext cx="16135945" cy="8330997"/>
          </a:xfrm>
          <a:custGeom>
            <a:avLst/>
            <a:gdLst/>
            <a:ahLst/>
            <a:cxnLst/>
            <a:rect l="l" t="t" r="r" b="b"/>
            <a:pathLst>
              <a:path w="16135945" h="8330997">
                <a:moveTo>
                  <a:pt x="0" y="0"/>
                </a:moveTo>
                <a:lnTo>
                  <a:pt x="16135945" y="0"/>
                </a:lnTo>
                <a:lnTo>
                  <a:pt x="16135945" y="8330997"/>
                </a:lnTo>
                <a:lnTo>
                  <a:pt x="0" y="8330997"/>
                </a:lnTo>
                <a:lnTo>
                  <a:pt x="0" y="0"/>
                </a:lnTo>
                <a:close/>
              </a:path>
            </a:pathLst>
          </a:custGeom>
          <a:blipFill>
            <a:blip r:embed="rId2"/>
            <a:stretch>
              <a:fillRect l="-32441" t="-31348" r="-31024" b="-46657"/>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sp>
        <p:nvSpPr>
          <p:cNvPr id="2" name="Freeform 2"/>
          <p:cNvSpPr/>
          <p:nvPr/>
        </p:nvSpPr>
        <p:spPr>
          <a:xfrm>
            <a:off x="2644443" y="174498"/>
            <a:ext cx="12099144" cy="9938003"/>
          </a:xfrm>
          <a:custGeom>
            <a:avLst/>
            <a:gdLst/>
            <a:ahLst/>
            <a:cxnLst/>
            <a:rect l="l" t="t" r="r" b="b"/>
            <a:pathLst>
              <a:path w="12099144" h="9938003">
                <a:moveTo>
                  <a:pt x="0" y="0"/>
                </a:moveTo>
                <a:lnTo>
                  <a:pt x="12099144" y="0"/>
                </a:lnTo>
                <a:lnTo>
                  <a:pt x="12099144" y="9938004"/>
                </a:lnTo>
                <a:lnTo>
                  <a:pt x="0" y="9938004"/>
                </a:lnTo>
                <a:lnTo>
                  <a:pt x="0" y="0"/>
                </a:lnTo>
                <a:close/>
              </a:path>
            </a:pathLst>
          </a:custGeom>
          <a:blipFill>
            <a:blip r:embed="rId2"/>
            <a:stretch>
              <a:fillRect l="-257" t="-1326" b="-6433"/>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DE8E"/>
        </a:solidFill>
        <a:effectLst/>
      </p:bgPr>
    </p:bg>
    <p:spTree>
      <p:nvGrpSpPr>
        <p:cNvPr id="1" name=""/>
        <p:cNvGrpSpPr/>
        <p:nvPr/>
      </p:nvGrpSpPr>
      <p:grpSpPr>
        <a:xfrm>
          <a:off x="0" y="0"/>
          <a:ext cx="0" cy="0"/>
          <a:chOff x="0" y="0"/>
          <a:chExt cx="0" cy="0"/>
        </a:xfrm>
      </p:grpSpPr>
      <p:grpSp>
        <p:nvGrpSpPr>
          <p:cNvPr id="2" name="Group 2"/>
          <p:cNvGrpSpPr/>
          <p:nvPr/>
        </p:nvGrpSpPr>
        <p:grpSpPr>
          <a:xfrm>
            <a:off x="1800225" y="3764449"/>
            <a:ext cx="4717524" cy="4960451"/>
            <a:chOff x="0" y="0"/>
            <a:chExt cx="1242476" cy="1306456"/>
          </a:xfrm>
        </p:grpSpPr>
        <p:sp>
          <p:nvSpPr>
            <p:cNvPr id="3" name="Freeform 3"/>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5" name="Group 5"/>
          <p:cNvGrpSpPr/>
          <p:nvPr/>
        </p:nvGrpSpPr>
        <p:grpSpPr>
          <a:xfrm>
            <a:off x="6785238"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grpSp>
        <p:nvGrpSpPr>
          <p:cNvPr id="8" name="Group 8"/>
          <p:cNvGrpSpPr/>
          <p:nvPr/>
        </p:nvGrpSpPr>
        <p:grpSpPr>
          <a:xfrm>
            <a:off x="11770251"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pPr>
              <a:endParaRPr/>
            </a:p>
          </p:txBody>
        </p:sp>
      </p:grpSp>
      <p:sp>
        <p:nvSpPr>
          <p:cNvPr id="11" name="TextBox 11"/>
          <p:cNvSpPr txBox="1"/>
          <p:nvPr/>
        </p:nvSpPr>
        <p:spPr>
          <a:xfrm>
            <a:off x="2105025" y="1504950"/>
            <a:ext cx="14077950" cy="876300"/>
          </a:xfrm>
          <a:prstGeom prst="rect">
            <a:avLst/>
          </a:prstGeom>
        </p:spPr>
        <p:txBody>
          <a:bodyPr lIns="0" tIns="0" rIns="0" bIns="0" rtlCol="0" anchor="t">
            <a:spAutoFit/>
          </a:bodyPr>
          <a:lstStyle/>
          <a:p>
            <a:pPr marL="0" lvl="0" indent="0" algn="ctr">
              <a:lnSpc>
                <a:spcPts val="6480"/>
              </a:lnSpc>
            </a:pPr>
            <a:r>
              <a:rPr lang="en-US" sz="5400" b="1" spc="-135">
                <a:solidFill>
                  <a:srgbClr val="000000"/>
                </a:solidFill>
                <a:latin typeface="Gatwick Ultra-Bold"/>
                <a:ea typeface="Gatwick Ultra-Bold"/>
                <a:cs typeface="Gatwick Ultra-Bold"/>
                <a:sym typeface="Gatwick Ultra-Bold"/>
              </a:rPr>
              <a:t>JUJUR</a:t>
            </a:r>
          </a:p>
        </p:txBody>
      </p:sp>
      <p:sp>
        <p:nvSpPr>
          <p:cNvPr id="12" name="TextBox 12"/>
          <p:cNvSpPr txBox="1"/>
          <p:nvPr/>
        </p:nvSpPr>
        <p:spPr>
          <a:xfrm>
            <a:off x="2203713" y="4544378"/>
            <a:ext cx="4010025" cy="3340101"/>
          </a:xfrm>
          <a:prstGeom prst="rect">
            <a:avLst/>
          </a:prstGeom>
        </p:spPr>
        <p:txBody>
          <a:bodyPr lIns="0" tIns="0" rIns="0" bIns="0" rtlCol="0" anchor="t">
            <a:spAutoFit/>
          </a:bodyPr>
          <a:lstStyle/>
          <a:p>
            <a:pPr marL="0" lvl="0" indent="0" algn="ctr">
              <a:lnSpc>
                <a:spcPts val="5199"/>
              </a:lnSpc>
            </a:pPr>
            <a:r>
              <a:rPr lang="en-US" sz="3999" u="none" strike="noStrike">
                <a:solidFill>
                  <a:srgbClr val="000000"/>
                </a:solidFill>
                <a:latin typeface="Codec Pro"/>
                <a:ea typeface="Codec Pro"/>
                <a:cs typeface="Codec Pro"/>
                <a:sym typeface="Codec Pro"/>
              </a:rPr>
              <a:t>Jujur adalah lurus hati, tidak curang, dan tidak berbohong. </a:t>
            </a:r>
          </a:p>
        </p:txBody>
      </p:sp>
      <p:sp>
        <p:nvSpPr>
          <p:cNvPr id="13" name="TextBox 13"/>
          <p:cNvSpPr txBox="1"/>
          <p:nvPr/>
        </p:nvSpPr>
        <p:spPr>
          <a:xfrm>
            <a:off x="7138988" y="4042123"/>
            <a:ext cx="4010025" cy="3919220"/>
          </a:xfrm>
          <a:prstGeom prst="rect">
            <a:avLst/>
          </a:prstGeom>
        </p:spPr>
        <p:txBody>
          <a:bodyPr lIns="0" tIns="0" rIns="0" bIns="0" rtlCol="0" anchor="t">
            <a:spAutoFit/>
          </a:bodyPr>
          <a:lstStyle/>
          <a:p>
            <a:pPr algn="ctr">
              <a:lnSpc>
                <a:spcPts val="4419"/>
              </a:lnSpc>
            </a:pPr>
            <a:r>
              <a:rPr lang="en-US" sz="3399">
                <a:solidFill>
                  <a:srgbClr val="000000"/>
                </a:solidFill>
                <a:latin typeface="Codec Pro"/>
                <a:ea typeface="Codec Pro"/>
                <a:cs typeface="Codec Pro"/>
                <a:sym typeface="Codec Pro"/>
              </a:rPr>
              <a:t>Lawan kata jujur adalah bohong.</a:t>
            </a:r>
          </a:p>
          <a:p>
            <a:pPr marL="0" lvl="0" indent="0" algn="ctr">
              <a:lnSpc>
                <a:spcPts val="4419"/>
              </a:lnSpc>
            </a:pPr>
            <a:r>
              <a:rPr lang="en-US" sz="3399">
                <a:solidFill>
                  <a:srgbClr val="000000"/>
                </a:solidFill>
                <a:latin typeface="Codec Pro"/>
                <a:ea typeface="Codec Pro"/>
                <a:cs typeface="Codec Pro"/>
                <a:sym typeface="Codec Pro"/>
              </a:rPr>
              <a:t>Dan bohong merupakan perilaku tercela yang harus kita jauhi.</a:t>
            </a:r>
          </a:p>
        </p:txBody>
      </p:sp>
      <p:sp>
        <p:nvSpPr>
          <p:cNvPr id="14" name="TextBox 14"/>
          <p:cNvSpPr txBox="1"/>
          <p:nvPr/>
        </p:nvSpPr>
        <p:spPr>
          <a:xfrm>
            <a:off x="12172950" y="4042123"/>
            <a:ext cx="4010025" cy="3919220"/>
          </a:xfrm>
          <a:prstGeom prst="rect">
            <a:avLst/>
          </a:prstGeom>
        </p:spPr>
        <p:txBody>
          <a:bodyPr lIns="0" tIns="0" rIns="0" bIns="0" rtlCol="0" anchor="t">
            <a:spAutoFit/>
          </a:bodyPr>
          <a:lstStyle/>
          <a:p>
            <a:pPr marL="0" lvl="0" indent="0" algn="ctr">
              <a:lnSpc>
                <a:spcPts val="4419"/>
              </a:lnSpc>
            </a:pPr>
            <a:r>
              <a:rPr lang="en-US" sz="3399">
                <a:solidFill>
                  <a:srgbClr val="000000"/>
                </a:solidFill>
                <a:latin typeface="Codec Pro"/>
                <a:ea typeface="Codec Pro"/>
                <a:cs typeface="Codec Pro"/>
                <a:sym typeface="Codec Pro"/>
              </a:rPr>
              <a:t>Anak yang jujur akan dipercaya dan disenangi oleh teman, sedangkan anak yang suka berbohong akan dijauhi oleh teman.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D1"/>
        </a:solidFill>
        <a:effectLst/>
      </p:bgPr>
    </p:bg>
    <p:spTree>
      <p:nvGrpSpPr>
        <p:cNvPr id="1" name=""/>
        <p:cNvGrpSpPr/>
        <p:nvPr/>
      </p:nvGrpSpPr>
      <p:grpSpPr>
        <a:xfrm>
          <a:off x="0" y="0"/>
          <a:ext cx="0" cy="0"/>
          <a:chOff x="0" y="0"/>
          <a:chExt cx="0" cy="0"/>
        </a:xfrm>
      </p:grpSpPr>
      <p:sp>
        <p:nvSpPr>
          <p:cNvPr id="2" name="Freeform 2"/>
          <p:cNvSpPr/>
          <p:nvPr/>
        </p:nvSpPr>
        <p:spPr>
          <a:xfrm>
            <a:off x="1328738" y="600075"/>
            <a:ext cx="6657975" cy="4543425"/>
          </a:xfrm>
          <a:custGeom>
            <a:avLst/>
            <a:gdLst/>
            <a:ahLst/>
            <a:cxnLst/>
            <a:rect l="l" t="t" r="r" b="b"/>
            <a:pathLst>
              <a:path w="6657975" h="4543425">
                <a:moveTo>
                  <a:pt x="0" y="0"/>
                </a:moveTo>
                <a:lnTo>
                  <a:pt x="6657975" y="0"/>
                </a:lnTo>
                <a:lnTo>
                  <a:pt x="6657975" y="4543425"/>
                </a:lnTo>
                <a:lnTo>
                  <a:pt x="0" y="4543425"/>
                </a:lnTo>
                <a:lnTo>
                  <a:pt x="0" y="0"/>
                </a:lnTo>
                <a:close/>
              </a:path>
            </a:pathLst>
          </a:custGeom>
          <a:blipFill>
            <a:blip r:embed="rId2"/>
            <a:stretch>
              <a:fillRect l="-42786" t="-25108" r="-47937" b="-32026"/>
            </a:stretch>
          </a:blipFill>
        </p:spPr>
      </p:sp>
      <p:sp>
        <p:nvSpPr>
          <p:cNvPr id="3" name="Freeform 3"/>
          <p:cNvSpPr/>
          <p:nvPr/>
        </p:nvSpPr>
        <p:spPr>
          <a:xfrm>
            <a:off x="9841300" y="600075"/>
            <a:ext cx="6460738" cy="3978140"/>
          </a:xfrm>
          <a:custGeom>
            <a:avLst/>
            <a:gdLst/>
            <a:ahLst/>
            <a:cxnLst/>
            <a:rect l="l" t="t" r="r" b="b"/>
            <a:pathLst>
              <a:path w="6460738" h="3978140">
                <a:moveTo>
                  <a:pt x="0" y="0"/>
                </a:moveTo>
                <a:lnTo>
                  <a:pt x="6460738" y="0"/>
                </a:lnTo>
                <a:lnTo>
                  <a:pt x="6460738" y="3978140"/>
                </a:lnTo>
                <a:lnTo>
                  <a:pt x="0" y="3978140"/>
                </a:lnTo>
                <a:lnTo>
                  <a:pt x="0" y="0"/>
                </a:lnTo>
                <a:close/>
              </a:path>
            </a:pathLst>
          </a:custGeom>
          <a:blipFill>
            <a:blip r:embed="rId3"/>
            <a:stretch>
              <a:fillRect l="-51246" t="-40694" r="-53829" b="-46558"/>
            </a:stretch>
          </a:blipFill>
        </p:spPr>
      </p:sp>
      <p:sp>
        <p:nvSpPr>
          <p:cNvPr id="4" name="TextBox 4"/>
          <p:cNvSpPr txBox="1"/>
          <p:nvPr/>
        </p:nvSpPr>
        <p:spPr>
          <a:xfrm>
            <a:off x="2543175" y="6724650"/>
            <a:ext cx="13201650" cy="1313179"/>
          </a:xfrm>
          <a:prstGeom prst="rect">
            <a:avLst/>
          </a:prstGeom>
        </p:spPr>
        <p:txBody>
          <a:bodyPr lIns="0" tIns="0" rIns="0" bIns="0" rtlCol="0" anchor="t">
            <a:spAutoFit/>
          </a:bodyPr>
          <a:lstStyle/>
          <a:p>
            <a:pPr algn="ctr">
              <a:lnSpc>
                <a:spcPts val="5320"/>
              </a:lnSpc>
            </a:pPr>
            <a:r>
              <a:rPr lang="en-US" sz="3800" b="1">
                <a:solidFill>
                  <a:srgbClr val="000000"/>
                </a:solidFill>
                <a:latin typeface="Open Sans Bold"/>
                <a:ea typeface="Open Sans Bold"/>
                <a:cs typeface="Open Sans Bold"/>
                <a:sym typeface="Open Sans Bold"/>
              </a:rPr>
              <a:t>Tidak mencontek, dan mengembalikan barang milik orang lain merupakan contoh perilaku jujur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162839"/>
            </a:solidFill>
          </p:spPr>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2A9F1"/>
            </a:solidFill>
          </p:spPr>
        </p:sp>
      </p:grpSp>
      <p:sp>
        <p:nvSpPr>
          <p:cNvPr id="5" name="Freeform 5"/>
          <p:cNvSpPr/>
          <p:nvPr/>
        </p:nvSpPr>
        <p:spPr>
          <a:xfrm>
            <a:off x="2105025" y="2158401"/>
            <a:ext cx="5753100" cy="5970198"/>
          </a:xfrm>
          <a:custGeom>
            <a:avLst/>
            <a:gdLst/>
            <a:ahLst/>
            <a:cxnLst/>
            <a:rect l="l" t="t" r="r" b="b"/>
            <a:pathLst>
              <a:path w="5753100" h="5970198">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9296400" y="2457450"/>
            <a:ext cx="6886575" cy="4722495"/>
            <a:chOff x="0" y="0"/>
            <a:chExt cx="9182100" cy="6296660"/>
          </a:xfrm>
        </p:grpSpPr>
        <p:sp>
          <p:nvSpPr>
            <p:cNvPr id="7" name="TextBox 7"/>
            <p:cNvSpPr txBox="1"/>
            <p:nvPr/>
          </p:nvSpPr>
          <p:spPr>
            <a:xfrm>
              <a:off x="0" y="-57150"/>
              <a:ext cx="9182100" cy="4425950"/>
            </a:xfrm>
            <a:prstGeom prst="rect">
              <a:avLst/>
            </a:prstGeom>
          </p:spPr>
          <p:txBody>
            <a:bodyPr lIns="0" tIns="0" rIns="0" bIns="0" rtlCol="0" anchor="t">
              <a:spAutoFit/>
            </a:bodyPr>
            <a:lstStyle/>
            <a:p>
              <a:pPr marL="0" lvl="0" indent="0" algn="ctr">
                <a:lnSpc>
                  <a:spcPts val="6480"/>
                </a:lnSpc>
              </a:pPr>
              <a:r>
                <a:rPr lang="en-US" sz="5400" b="1" spc="-135">
                  <a:solidFill>
                    <a:srgbClr val="ECF0F1"/>
                  </a:solidFill>
                  <a:latin typeface="Gatwick Ultra-Bold"/>
                  <a:ea typeface="Gatwick Ultra-Bold"/>
                  <a:cs typeface="Gatwick Ultra-Bold"/>
                  <a:sym typeface="Gatwick Ultra-Bold"/>
                </a:rPr>
                <a:t>Ayo kita berperilaku terpuji setiap hari!</a:t>
              </a:r>
            </a:p>
          </p:txBody>
        </p:sp>
        <p:sp>
          <p:nvSpPr>
            <p:cNvPr id="8" name="TextBox 8"/>
            <p:cNvSpPr txBox="1"/>
            <p:nvPr/>
          </p:nvSpPr>
          <p:spPr>
            <a:xfrm>
              <a:off x="0" y="4708525"/>
              <a:ext cx="9182100" cy="1588135"/>
            </a:xfrm>
            <a:prstGeom prst="rect">
              <a:avLst/>
            </a:prstGeom>
          </p:spPr>
          <p:txBody>
            <a:bodyPr lIns="0" tIns="0" rIns="0" bIns="0" rtlCol="0" anchor="t">
              <a:spAutoFit/>
            </a:bodyPr>
            <a:lstStyle/>
            <a:p>
              <a:pPr marL="0" lvl="0" indent="0" algn="ctr">
                <a:lnSpc>
                  <a:spcPts val="3120"/>
                </a:lnSpc>
              </a:pPr>
              <a:r>
                <a:rPr lang="en-US" sz="2400">
                  <a:solidFill>
                    <a:srgbClr val="ECF0F1"/>
                  </a:solidFill>
                  <a:latin typeface="Codec Pro"/>
                  <a:ea typeface="Codec Pro"/>
                  <a:cs typeface="Codec Pro"/>
                  <a:sym typeface="Codec Pro"/>
                </a:rPr>
                <a:t>Mari kita terapkan </a:t>
              </a:r>
              <a:r>
                <a:rPr lang="en-US" sz="2400" b="1">
                  <a:solidFill>
                    <a:srgbClr val="ECF0F1"/>
                  </a:solidFill>
                  <a:latin typeface="Codec Pro Bold"/>
                  <a:ea typeface="Codec Pro Bold"/>
                  <a:cs typeface="Codec Pro Bold"/>
                  <a:sym typeface="Codec Pro Bold"/>
                </a:rPr>
                <a:t>empat perilaku terpuji</a:t>
              </a:r>
              <a:r>
                <a:rPr lang="en-US" sz="2400">
                  <a:solidFill>
                    <a:srgbClr val="ECF0F1"/>
                  </a:solidFill>
                  <a:latin typeface="Codec Pro"/>
                  <a:ea typeface="Codec Pro"/>
                  <a:cs typeface="Codec Pro"/>
                  <a:sym typeface="Codec Pro"/>
                </a:rPr>
                <a:t> ini di kehidupan sehari-hari untuk menciptakan lingkungan yang lebih baik.</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170A7"/>
            </a:solidFill>
          </p:spPr>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2A9F1"/>
            </a:solidFill>
          </p:spPr>
        </p:sp>
      </p:grpSp>
      <p:sp>
        <p:nvSpPr>
          <p:cNvPr id="5" name="TextBox 5"/>
          <p:cNvSpPr txBox="1"/>
          <p:nvPr/>
        </p:nvSpPr>
        <p:spPr>
          <a:xfrm>
            <a:off x="8058150" y="4500562"/>
            <a:ext cx="8324850" cy="1209675"/>
          </a:xfrm>
          <a:prstGeom prst="rect">
            <a:avLst/>
          </a:prstGeom>
        </p:spPr>
        <p:txBody>
          <a:bodyPr lIns="0" tIns="0" rIns="0" bIns="0" rtlCol="0" anchor="t">
            <a:spAutoFit/>
          </a:bodyPr>
          <a:lstStyle/>
          <a:p>
            <a:pPr marL="0" lvl="0" indent="0" algn="ctr">
              <a:lnSpc>
                <a:spcPts val="8999"/>
              </a:lnSpc>
            </a:pPr>
            <a:r>
              <a:rPr lang="en-US" sz="7499" b="1" spc="-187">
                <a:solidFill>
                  <a:srgbClr val="ECF0F1"/>
                </a:solidFill>
                <a:latin typeface="Gatwick Ultra-Bold"/>
                <a:ea typeface="Gatwick Ultra-Bold"/>
                <a:cs typeface="Gatwick Ultra-Bold"/>
                <a:sym typeface="Gatwick Ultra-Bold"/>
              </a:rPr>
              <a:t>Thank You!</a:t>
            </a:r>
          </a:p>
        </p:txBody>
      </p:sp>
      <p:sp>
        <p:nvSpPr>
          <p:cNvPr id="6" name="Freeform 6"/>
          <p:cNvSpPr/>
          <p:nvPr/>
        </p:nvSpPr>
        <p:spPr>
          <a:xfrm rot="5400000">
            <a:off x="727580" y="2266950"/>
            <a:ext cx="7158835" cy="5753100"/>
          </a:xfrm>
          <a:custGeom>
            <a:avLst/>
            <a:gdLst/>
            <a:ahLst/>
            <a:cxnLst/>
            <a:rect l="l" t="t" r="r" b="b"/>
            <a:pathLst>
              <a:path w="7158835" h="5753100">
                <a:moveTo>
                  <a:pt x="0" y="0"/>
                </a:moveTo>
                <a:lnTo>
                  <a:pt x="7158835" y="0"/>
                </a:lnTo>
                <a:lnTo>
                  <a:pt x="7158835" y="5753100"/>
                </a:lnTo>
                <a:lnTo>
                  <a:pt x="0" y="57531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474</Words>
  <Application>Microsoft Office PowerPoint</Application>
  <PresentationFormat>Custom</PresentationFormat>
  <Paragraphs>47</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Open Sans</vt:lpstr>
      <vt:lpstr>Codec Pro Bold</vt:lpstr>
      <vt:lpstr>Codec Pro Ultra-Bold</vt:lpstr>
      <vt:lpstr>Open Sans Bold</vt:lpstr>
      <vt:lpstr>Codec Pro</vt:lpstr>
      <vt:lpstr>Gatwick Ultra-Bold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 Ayo Berperilaku Terpuji</dc:title>
  <dc:description>Presentasi - Ayo Berperilaku Terpuji</dc:description>
  <cp:lastModifiedBy>Arif Hidayat</cp:lastModifiedBy>
  <cp:revision>2</cp:revision>
  <dcterms:created xsi:type="dcterms:W3CDTF">2006-08-16T00:00:00Z</dcterms:created>
  <dcterms:modified xsi:type="dcterms:W3CDTF">2026-01-06T07:25:01Z</dcterms:modified>
  <dc:identifier>DAG9RIS8qKw</dc:identifier>
</cp:coreProperties>
</file>